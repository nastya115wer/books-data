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321" r:id="rId4"/>
    <p:sldId id="258" r:id="rId5"/>
    <p:sldId id="259" r:id="rId6"/>
    <p:sldId id="260" r:id="rId7"/>
    <p:sldId id="261" r:id="rId8"/>
    <p:sldId id="262" r:id="rId9"/>
    <p:sldId id="263" r:id="rId10"/>
    <p:sldId id="272" r:id="rId11"/>
    <p:sldId id="273" r:id="rId12"/>
    <p:sldId id="264" r:id="rId13"/>
    <p:sldId id="265" r:id="rId14"/>
    <p:sldId id="266" r:id="rId15"/>
    <p:sldId id="280" r:id="rId16"/>
    <p:sldId id="303" r:id="rId17"/>
    <p:sldId id="298" r:id="rId18"/>
    <p:sldId id="304" r:id="rId19"/>
    <p:sldId id="268" r:id="rId20"/>
    <p:sldId id="305" r:id="rId21"/>
    <p:sldId id="269" r:id="rId22"/>
    <p:sldId id="318" r:id="rId23"/>
    <p:sldId id="317" r:id="rId24"/>
    <p:sldId id="322" r:id="rId25"/>
    <p:sldId id="270" r:id="rId26"/>
    <p:sldId id="311" r:id="rId27"/>
    <p:sldId id="274" r:id="rId28"/>
    <p:sldId id="283" r:id="rId29"/>
    <p:sldId id="312" r:id="rId30"/>
    <p:sldId id="275" r:id="rId31"/>
    <p:sldId id="276" r:id="rId32"/>
    <p:sldId id="277" r:id="rId33"/>
    <p:sldId id="315" r:id="rId34"/>
    <p:sldId id="284" r:id="rId35"/>
    <p:sldId id="278" r:id="rId36"/>
    <p:sldId id="285" r:id="rId37"/>
    <p:sldId id="319" r:id="rId38"/>
    <p:sldId id="286" r:id="rId39"/>
    <p:sldId id="287" r:id="rId40"/>
    <p:sldId id="288" r:id="rId41"/>
    <p:sldId id="289" r:id="rId42"/>
    <p:sldId id="299" r:id="rId43"/>
    <p:sldId id="300" r:id="rId44"/>
    <p:sldId id="320" r:id="rId45"/>
    <p:sldId id="291" r:id="rId46"/>
    <p:sldId id="292" r:id="rId47"/>
    <p:sldId id="293" r:id="rId48"/>
    <p:sldId id="294" r:id="rId49"/>
    <p:sldId id="301" r:id="rId50"/>
    <p:sldId id="302" r:id="rId5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284984"/>
            <a:ext cx="7772400" cy="1470025"/>
          </a:xfrm>
        </p:spPr>
        <p:txBody>
          <a:bodyPr>
            <a:noAutofit/>
          </a:bodyPr>
          <a:lstStyle/>
          <a:p>
            <a:r>
              <a:rPr lang="ru-RU" sz="2400" b="1" dirty="0"/>
              <a:t>Тема проекта:</a:t>
            </a:r>
            <a:r>
              <a:rPr lang="ru-RU" sz="2400" dirty="0"/>
              <a:t> 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Исследование </a:t>
            </a:r>
            <a:r>
              <a:rPr lang="ru-RU" sz="2400" dirty="0"/>
              <a:t>факторов, влияющих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ru-RU" sz="2400" dirty="0" smtClean="0"/>
              <a:t>на </a:t>
            </a:r>
            <a:r>
              <a:rPr lang="ru-RU" sz="2400" dirty="0"/>
              <a:t>популярность книг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3045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80528" y="620688"/>
            <a:ext cx="8877672" cy="1143000"/>
          </a:xfrm>
        </p:spPr>
        <p:txBody>
          <a:bodyPr>
            <a:noAutofit/>
          </a:bodyPr>
          <a:lstStyle/>
          <a:p>
            <a:r>
              <a:rPr lang="ru-RU" sz="2400" b="1" dirty="0"/>
              <a:t>Краткое содержание </a:t>
            </a:r>
            <a:r>
              <a:rPr lang="ru-RU" sz="2400" b="1" dirty="0" err="1"/>
              <a:t>dataset</a:t>
            </a:r>
            <a:r>
              <a:rPr lang="ru-RU" sz="2400" b="1" dirty="0"/>
              <a:t> </a:t>
            </a:r>
            <a:r>
              <a:rPr lang="en-US" sz="2400" b="1" dirty="0" smtClean="0"/>
              <a:t>BOOKS.</a:t>
            </a:r>
            <a:r>
              <a:rPr lang="ru-RU" sz="2400" b="1" dirty="0" smtClean="0"/>
              <a:t> </a:t>
            </a:r>
            <a:r>
              <a:rPr lang="ru-RU" sz="2400" b="1" dirty="0"/>
              <a:t>описание данных</a:t>
            </a:r>
            <a:br>
              <a:rPr lang="ru-RU" sz="2400" b="1" dirty="0"/>
            </a:b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628800"/>
            <a:ext cx="7931224" cy="489654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Dataset</a:t>
            </a:r>
            <a:r>
              <a:rPr lang="ru-RU" dirty="0" smtClean="0"/>
              <a:t> содержит следующие столбцы:</a:t>
            </a:r>
          </a:p>
          <a:p>
            <a:endParaRPr lang="ru-RU" dirty="0" smtClean="0"/>
          </a:p>
          <a:p>
            <a:r>
              <a:rPr lang="ru-RU" dirty="0" smtClean="0"/>
              <a:t>"</a:t>
            </a:r>
            <a:r>
              <a:rPr lang="ru-RU" dirty="0" err="1"/>
              <a:t>bookID</a:t>
            </a:r>
            <a:r>
              <a:rPr lang="ru-RU" dirty="0"/>
              <a:t>" - уникальный идентификационный номер для каждой книги</a:t>
            </a:r>
            <a:r>
              <a:rPr lang="ru-RU" dirty="0" smtClean="0"/>
              <a:t>,</a:t>
            </a:r>
          </a:p>
          <a:p>
            <a:r>
              <a:rPr lang="ru-RU" dirty="0" smtClean="0"/>
              <a:t> </a:t>
            </a:r>
            <a:r>
              <a:rPr lang="ru-RU" dirty="0"/>
              <a:t>"</a:t>
            </a:r>
            <a:r>
              <a:rPr lang="ru-RU" dirty="0" err="1"/>
              <a:t>title</a:t>
            </a:r>
            <a:r>
              <a:rPr lang="ru-RU" dirty="0"/>
              <a:t>" - название, под которым была опубликована книга</a:t>
            </a:r>
            <a:r>
              <a:rPr lang="ru-RU" dirty="0" smtClean="0"/>
              <a:t>,</a:t>
            </a:r>
          </a:p>
          <a:p>
            <a:r>
              <a:rPr lang="ru-RU" dirty="0"/>
              <a:t> </a:t>
            </a:r>
            <a:r>
              <a:rPr lang="ru-RU" dirty="0" smtClean="0"/>
              <a:t>"</a:t>
            </a:r>
            <a:r>
              <a:rPr lang="ru-RU" dirty="0" err="1"/>
              <a:t>authors</a:t>
            </a:r>
            <a:r>
              <a:rPr lang="ru-RU" dirty="0"/>
              <a:t>" - имена авторов книги</a:t>
            </a:r>
            <a:r>
              <a:rPr lang="ru-RU" dirty="0" smtClean="0"/>
              <a:t>,</a:t>
            </a:r>
          </a:p>
          <a:p>
            <a:r>
              <a:rPr lang="ru-RU" dirty="0" smtClean="0"/>
              <a:t> </a:t>
            </a:r>
            <a:r>
              <a:rPr lang="ru-RU" dirty="0"/>
              <a:t>"</a:t>
            </a:r>
            <a:r>
              <a:rPr lang="ru-RU" dirty="0" err="1"/>
              <a:t>average_rating</a:t>
            </a:r>
            <a:r>
              <a:rPr lang="ru-RU" dirty="0"/>
              <a:t>" - средняя оценка, полученная книгой в целом</a:t>
            </a:r>
            <a:r>
              <a:rPr lang="ru-RU" dirty="0" smtClean="0"/>
              <a:t>,</a:t>
            </a:r>
          </a:p>
          <a:p>
            <a:r>
              <a:rPr lang="ru-RU" dirty="0" smtClean="0"/>
              <a:t>"</a:t>
            </a:r>
            <a:r>
              <a:rPr lang="ru-RU" dirty="0" err="1"/>
              <a:t>language_code</a:t>
            </a:r>
            <a:r>
              <a:rPr lang="ru-RU" dirty="0"/>
              <a:t>" - помогает понять, на каком языке написана книга</a:t>
            </a:r>
            <a:r>
              <a:rPr lang="ru-RU" dirty="0" smtClean="0"/>
              <a:t>,</a:t>
            </a:r>
          </a:p>
          <a:p>
            <a:r>
              <a:rPr lang="ru-RU" dirty="0" smtClean="0"/>
              <a:t>"</a:t>
            </a:r>
            <a:r>
              <a:rPr lang="ru-RU" dirty="0" err="1"/>
              <a:t>num_pages</a:t>
            </a:r>
            <a:r>
              <a:rPr lang="ru-RU" dirty="0"/>
              <a:t>" - количество страниц, содержащихся в книге</a:t>
            </a:r>
            <a:r>
              <a:rPr lang="ru-RU" dirty="0" smtClean="0"/>
              <a:t>,</a:t>
            </a:r>
          </a:p>
          <a:p>
            <a:r>
              <a:rPr lang="ru-RU" dirty="0" smtClean="0"/>
              <a:t>"</a:t>
            </a:r>
            <a:r>
              <a:rPr lang="ru-RU" dirty="0" err="1"/>
              <a:t>ratings_count</a:t>
            </a:r>
            <a:r>
              <a:rPr lang="ru-RU" dirty="0"/>
              <a:t>" - общее количество оценок, полученных книгой</a:t>
            </a:r>
            <a:r>
              <a:rPr lang="ru-RU" dirty="0" smtClean="0"/>
              <a:t>,</a:t>
            </a:r>
          </a:p>
          <a:p>
            <a:r>
              <a:rPr lang="ru-RU" dirty="0" smtClean="0"/>
              <a:t>"</a:t>
            </a:r>
            <a:r>
              <a:rPr lang="ru-RU" dirty="0" err="1"/>
              <a:t>publication_date</a:t>
            </a:r>
            <a:r>
              <a:rPr lang="ru-RU" dirty="0"/>
              <a:t>" - дата публикации книги</a:t>
            </a:r>
            <a:r>
              <a:rPr lang="ru-RU" dirty="0" smtClean="0"/>
              <a:t>,</a:t>
            </a:r>
          </a:p>
          <a:p>
            <a:r>
              <a:rPr lang="ru-RU" dirty="0" smtClean="0"/>
              <a:t>"</a:t>
            </a:r>
            <a:r>
              <a:rPr lang="ru-RU" dirty="0" err="1"/>
              <a:t>publisher</a:t>
            </a:r>
            <a:r>
              <a:rPr lang="ru-RU" dirty="0"/>
              <a:t>" - издатель.</a:t>
            </a:r>
          </a:p>
        </p:txBody>
      </p:sp>
    </p:spTree>
    <p:extLst>
      <p:ext uri="{BB962C8B-B14F-4D97-AF65-F5344CB8AC3E}">
        <p14:creationId xmlns:p14="http://schemas.microsoft.com/office/powerpoint/2010/main" val="301448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Внешний вид </a:t>
            </a:r>
            <a:r>
              <a:rPr lang="ru-RU" sz="2800" dirty="0" err="1" smtClean="0"/>
              <a:t>бд</a:t>
            </a:r>
            <a:r>
              <a:rPr lang="ru-RU" sz="2800" dirty="0" smtClean="0"/>
              <a:t> </a:t>
            </a:r>
            <a:r>
              <a:rPr lang="en-US" sz="2800" dirty="0" smtClean="0"/>
              <a:t>books</a:t>
            </a:r>
            <a:r>
              <a:rPr lang="ru-RU" sz="2800" dirty="0" smtClean="0"/>
              <a:t>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8800"/>
            <a:ext cx="61912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25144"/>
            <a:ext cx="9226550" cy="175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47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SQL запросы:</a:t>
            </a:r>
            <a:br>
              <a:rPr lang="ru-RU" sz="2400" b="1" dirty="0" smtClean="0"/>
            </a:br>
            <a:r>
              <a:rPr lang="en-US" sz="2400" dirty="0" smtClean="0"/>
              <a:t>1</a:t>
            </a:r>
            <a:r>
              <a:rPr lang="en-US" sz="2400" dirty="0"/>
              <a:t>. </a:t>
            </a:r>
            <a:r>
              <a:rPr lang="ru-RU" sz="2400" dirty="0"/>
              <a:t>Выведите список всех жанров книг в базе данных: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772816"/>
            <a:ext cx="8229600" cy="1252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SELECT </a:t>
            </a:r>
            <a:r>
              <a:rPr lang="en-US" sz="2800" dirty="0"/>
              <a:t>DISTINCT genres </a:t>
            </a:r>
          </a:p>
          <a:p>
            <a:pPr marL="0" indent="0">
              <a:buNone/>
            </a:pPr>
            <a:r>
              <a:rPr lang="en-US" sz="2800" dirty="0"/>
              <a:t>FROM books</a:t>
            </a:r>
            <a:r>
              <a:rPr lang="en-US" sz="2800" dirty="0" smtClean="0"/>
              <a:t>;</a:t>
            </a:r>
          </a:p>
          <a:p>
            <a:endParaRPr lang="ru-RU" sz="2800" dirty="0"/>
          </a:p>
        </p:txBody>
      </p:sp>
      <p:pic>
        <p:nvPicPr>
          <p:cNvPr id="1026" name="Picture 2" descr="C:\Users\настя\Desktop\Итоговый проект\SQL запросы по books updated data\Screenshot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648" y="2492896"/>
            <a:ext cx="3528392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79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0"/>
            <a:ext cx="8656208" cy="1039427"/>
          </a:xfrm>
        </p:spPr>
        <p:txBody>
          <a:bodyPr>
            <a:noAutofit/>
          </a:bodyPr>
          <a:lstStyle/>
          <a:p>
            <a:r>
              <a:rPr lang="en-US" sz="2400" dirty="0"/>
              <a:t>2. </a:t>
            </a:r>
            <a:r>
              <a:rPr lang="ru-RU" sz="2400" dirty="0"/>
              <a:t>Выведите количество книг,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ru-RU" sz="2400" dirty="0" smtClean="0"/>
              <a:t>выпущенных </a:t>
            </a:r>
            <a:r>
              <a:rPr lang="ru-RU" sz="2400" dirty="0"/>
              <a:t>в каждом году, отсортированное по убыванию.</a:t>
            </a:r>
            <a:r>
              <a:rPr lang="en-US" sz="2400" dirty="0"/>
              <a:t/>
            </a:r>
            <a:br>
              <a:rPr lang="en-US" sz="2400" dirty="0"/>
            </a:b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700808"/>
            <a:ext cx="8229600" cy="1540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SELECT </a:t>
            </a:r>
            <a:r>
              <a:rPr lang="en-US" sz="2000" dirty="0"/>
              <a:t>YEAR(</a:t>
            </a:r>
            <a:r>
              <a:rPr lang="en-US" sz="2000" dirty="0" err="1"/>
              <a:t>publication_date</a:t>
            </a:r>
            <a:r>
              <a:rPr lang="en-US" sz="2000" dirty="0"/>
              <a:t>), COUNT(*) AS </a:t>
            </a:r>
            <a:r>
              <a:rPr lang="en-US" sz="2000" dirty="0" err="1"/>
              <a:t>book_count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books</a:t>
            </a:r>
          </a:p>
          <a:p>
            <a:pPr marL="0" indent="0">
              <a:buNone/>
            </a:pPr>
            <a:r>
              <a:rPr lang="en-US" sz="2000" dirty="0"/>
              <a:t>GROUP BY YEAR(</a:t>
            </a:r>
            <a:r>
              <a:rPr lang="en-US" sz="2000" dirty="0" err="1"/>
              <a:t>publication_date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ORDER BY </a:t>
            </a:r>
            <a:r>
              <a:rPr lang="en-US" sz="2000" dirty="0" err="1"/>
              <a:t>book_count</a:t>
            </a:r>
            <a:r>
              <a:rPr lang="en-US" sz="2000" dirty="0"/>
              <a:t> DESC;</a:t>
            </a:r>
            <a:endParaRPr lang="en-US" sz="20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42656"/>
            <a:ext cx="4807831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52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3. </a:t>
            </a:r>
            <a:r>
              <a:rPr lang="ru-RU" sz="2400" dirty="0" smtClean="0"/>
              <a:t>Выведите </a:t>
            </a:r>
            <a:r>
              <a:rPr lang="ru-RU" sz="2400" dirty="0"/>
              <a:t>топ 10 самых популярных книг по среднему рейтингу.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1460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TOP 10 title, </a:t>
            </a:r>
            <a:r>
              <a:rPr lang="en-US" sz="2000" dirty="0" err="1"/>
              <a:t>average_rating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FROM </a:t>
            </a:r>
            <a:r>
              <a:rPr lang="en-US" sz="2000" dirty="0"/>
              <a:t>books</a:t>
            </a:r>
          </a:p>
          <a:p>
            <a:pPr marL="0" indent="0">
              <a:buNone/>
            </a:pPr>
            <a:r>
              <a:rPr lang="en-US" sz="2000" dirty="0"/>
              <a:t>ORDER BY </a:t>
            </a:r>
            <a:r>
              <a:rPr lang="en-US" sz="2000" dirty="0" err="1"/>
              <a:t>average_rating</a:t>
            </a:r>
            <a:r>
              <a:rPr lang="en-US" sz="2000" dirty="0"/>
              <a:t> DESC;</a:t>
            </a:r>
            <a:endParaRPr lang="ru-RU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160384"/>
            <a:ext cx="8646513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34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91264" cy="1426170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4</a:t>
            </a:r>
            <a:r>
              <a:rPr lang="en-US" sz="2000" b="1" dirty="0"/>
              <a:t>.</a:t>
            </a:r>
            <a:r>
              <a:rPr lang="ru-RU" sz="2000" dirty="0"/>
              <a:t> Выведите информацию о книгах, имеющих определенный жанр и рейтинг выше заданного значения (пользователь вводит жанр и рейтинг).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*</a:t>
            </a:r>
          </a:p>
          <a:p>
            <a:pPr marL="0" indent="0">
              <a:buNone/>
            </a:pPr>
            <a:r>
              <a:rPr lang="en-US" sz="2000" dirty="0"/>
              <a:t>FROM books</a:t>
            </a:r>
          </a:p>
          <a:p>
            <a:pPr marL="0" indent="0">
              <a:buNone/>
            </a:pPr>
            <a:r>
              <a:rPr lang="en-US" sz="2000" dirty="0"/>
              <a:t>WHERE genres = 'Romance' AND </a:t>
            </a:r>
            <a:r>
              <a:rPr lang="en-US" sz="2000" dirty="0" err="1"/>
              <a:t>average_rating</a:t>
            </a:r>
            <a:r>
              <a:rPr lang="en-US" sz="2000" dirty="0"/>
              <a:t> &gt; '4.5';</a:t>
            </a:r>
            <a:endParaRPr lang="ru-RU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4" y="3429000"/>
            <a:ext cx="90805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12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/>
              <a:t>5</a:t>
            </a:r>
            <a:r>
              <a:rPr lang="en-US" sz="2000" b="1" dirty="0" smtClean="0"/>
              <a:t>. </a:t>
            </a:r>
            <a:r>
              <a:rPr lang="ru-RU" sz="2000" dirty="0" smtClean="0"/>
              <a:t>Выведите </a:t>
            </a:r>
            <a:r>
              <a:rPr lang="ru-RU" sz="2000" dirty="0"/>
              <a:t>средний рейтинг книг по жанрам.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626" y="1700808"/>
            <a:ext cx="8892480" cy="437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genres, AVG(</a:t>
            </a:r>
            <a:r>
              <a:rPr lang="en-US" sz="2000" dirty="0" err="1"/>
              <a:t>average_rating</a:t>
            </a:r>
            <a:r>
              <a:rPr lang="en-US" sz="2000" dirty="0"/>
              <a:t>) </a:t>
            </a:r>
            <a:r>
              <a:rPr lang="en-US" sz="2000" dirty="0" smtClean="0"/>
              <a:t>AS </a:t>
            </a:r>
            <a:r>
              <a:rPr lang="en-US" sz="2000" dirty="0" err="1" smtClean="0"/>
              <a:t>average_rating_by_genres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books</a:t>
            </a:r>
          </a:p>
          <a:p>
            <a:pPr marL="0" indent="0">
              <a:buNone/>
            </a:pPr>
            <a:r>
              <a:rPr lang="en-US" sz="2000" dirty="0"/>
              <a:t>GROUP BY genres;</a:t>
            </a:r>
            <a:endParaRPr lang="en-US" sz="2000" dirty="0" smtClean="0"/>
          </a:p>
          <a:p>
            <a:endParaRPr lang="en-US" sz="2000" dirty="0"/>
          </a:p>
          <a:p>
            <a:endParaRPr lang="ru-RU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937581"/>
            <a:ext cx="6953474" cy="3904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19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9656" y="332656"/>
            <a:ext cx="8260672" cy="1039427"/>
          </a:xfrm>
        </p:spPr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/>
              <a:t>6</a:t>
            </a:r>
            <a:r>
              <a:rPr lang="en-US" sz="2000" b="1" dirty="0" smtClean="0"/>
              <a:t>.</a:t>
            </a:r>
            <a:r>
              <a:rPr lang="ru-RU" sz="2000" dirty="0"/>
              <a:t> Выведите список книг, написанных определенным автором (пользователь вводит имя автора).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" y="1700808"/>
            <a:ext cx="8229600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title, publisher</a:t>
            </a:r>
          </a:p>
          <a:p>
            <a:pPr marL="0" indent="0">
              <a:buNone/>
            </a:pPr>
            <a:r>
              <a:rPr lang="en-US" sz="2000" dirty="0"/>
              <a:t>FROM books</a:t>
            </a:r>
          </a:p>
          <a:p>
            <a:pPr marL="0" indent="0">
              <a:buNone/>
            </a:pPr>
            <a:r>
              <a:rPr lang="en-US" sz="2000" dirty="0"/>
              <a:t>WHERE publisher = 'Vintage';</a:t>
            </a:r>
            <a:endParaRPr lang="ru-RU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780928"/>
            <a:ext cx="4955936" cy="3813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32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/>
              <a:t>7</a:t>
            </a:r>
            <a:r>
              <a:rPr lang="en-US" sz="2000" b="1" dirty="0" smtClean="0"/>
              <a:t>. </a:t>
            </a:r>
            <a:r>
              <a:rPr lang="ru-RU" sz="2000" dirty="0" smtClean="0"/>
              <a:t>Выведите </a:t>
            </a:r>
            <a:r>
              <a:rPr lang="ru-RU" sz="2000" dirty="0"/>
              <a:t>информацию о книгах с определенным количеством страниц (например, более 500 страниц).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1316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*</a:t>
            </a:r>
          </a:p>
          <a:p>
            <a:pPr marL="0" indent="0">
              <a:buNone/>
            </a:pPr>
            <a:r>
              <a:rPr lang="en-US" sz="2000" dirty="0"/>
              <a:t>FROM books</a:t>
            </a:r>
          </a:p>
          <a:p>
            <a:pPr marL="0" indent="0">
              <a:buNone/>
            </a:pPr>
            <a:r>
              <a:rPr lang="en-US" sz="2000" dirty="0"/>
              <a:t>WHERE </a:t>
            </a:r>
            <a:r>
              <a:rPr lang="en-US" sz="2000" dirty="0" err="1"/>
              <a:t>num_pages</a:t>
            </a:r>
            <a:r>
              <a:rPr lang="en-US" sz="2000" dirty="0"/>
              <a:t> &gt; 600;</a:t>
            </a:r>
            <a:endParaRPr lang="ru-RU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592424"/>
            <a:ext cx="8907615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665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b="1" dirty="0" smtClean="0"/>
              <a:t>8</a:t>
            </a:r>
            <a:r>
              <a:rPr lang="en-US" sz="2000" b="1" dirty="0" smtClean="0"/>
              <a:t>. </a:t>
            </a:r>
            <a:r>
              <a:rPr lang="ru-RU" sz="2000" dirty="0" smtClean="0"/>
              <a:t>Выведите </a:t>
            </a:r>
            <a:r>
              <a:rPr lang="ru-RU" sz="2000" dirty="0"/>
              <a:t>количество книг с определенным рейтингом.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1532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SELECT COUNT(*) AS </a:t>
            </a:r>
            <a:r>
              <a:rPr lang="en-US" dirty="0" err="1"/>
              <a:t>book_count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books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average_rating</a:t>
            </a:r>
            <a:r>
              <a:rPr lang="en-US" dirty="0"/>
              <a:t> = '4.4';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526066"/>
            <a:ext cx="4412898" cy="232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589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970408" cy="1039427"/>
          </a:xfrm>
        </p:spPr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/>
              <a:t>9</a:t>
            </a:r>
            <a:r>
              <a:rPr lang="en-US" sz="2000" b="1" dirty="0" smtClean="0"/>
              <a:t>. </a:t>
            </a:r>
            <a:r>
              <a:rPr lang="ru-RU" sz="2000" dirty="0" smtClean="0"/>
              <a:t>Выведите </a:t>
            </a:r>
            <a:r>
              <a:rPr lang="ru-RU" sz="2000" dirty="0"/>
              <a:t>список книг с наибольшим количеством оценок.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700808"/>
            <a:ext cx="8291264" cy="4425355"/>
          </a:xfrm>
        </p:spPr>
        <p:txBody>
          <a:bodyPr/>
          <a:lstStyle/>
          <a:p>
            <a:r>
              <a:rPr lang="en-US" dirty="0"/>
              <a:t>SELECT TOP 10 title, </a:t>
            </a:r>
            <a:r>
              <a:rPr lang="en-US" dirty="0" err="1"/>
              <a:t>ratings_count</a:t>
            </a:r>
            <a:endParaRPr lang="en-US" dirty="0"/>
          </a:p>
          <a:p>
            <a:r>
              <a:rPr lang="en-US" dirty="0"/>
              <a:t>FROM books</a:t>
            </a:r>
          </a:p>
          <a:p>
            <a:r>
              <a:rPr lang="en-US" dirty="0"/>
              <a:t>ORDER BY </a:t>
            </a:r>
            <a:r>
              <a:rPr lang="en-US" dirty="0" err="1"/>
              <a:t>ratings_count</a:t>
            </a:r>
            <a:r>
              <a:rPr lang="en-US" dirty="0"/>
              <a:t> DESC;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92948"/>
            <a:ext cx="50387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99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b="1" dirty="0" smtClean="0"/>
              <a:t>10</a:t>
            </a:r>
            <a:r>
              <a:rPr lang="en-US" sz="2000" b="1" dirty="0" smtClean="0"/>
              <a:t>. </a:t>
            </a:r>
            <a:r>
              <a:rPr lang="ru-RU" sz="2000" dirty="0" smtClean="0"/>
              <a:t>Выведите </a:t>
            </a:r>
            <a:r>
              <a:rPr lang="ru-RU" sz="2000" dirty="0"/>
              <a:t>средний рейтинг книг, выпущенных в определенном году (пользователь вводит год).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1316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AVG(</a:t>
            </a:r>
            <a:r>
              <a:rPr lang="en-US" sz="2000" dirty="0" err="1"/>
              <a:t>average_rating</a:t>
            </a:r>
            <a:r>
              <a:rPr lang="en-US" sz="2000" dirty="0"/>
              <a:t>) AS </a:t>
            </a:r>
            <a:r>
              <a:rPr lang="en-US" sz="2000" dirty="0" err="1"/>
              <a:t>average_rating_by_year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books</a:t>
            </a:r>
          </a:p>
          <a:p>
            <a:pPr marL="0" indent="0">
              <a:buNone/>
            </a:pPr>
            <a:r>
              <a:rPr lang="en-US" sz="2000" dirty="0"/>
              <a:t>WHERE YEAR(</a:t>
            </a:r>
            <a:r>
              <a:rPr lang="en-US" sz="2000" dirty="0" err="1"/>
              <a:t>publication_date</a:t>
            </a:r>
            <a:r>
              <a:rPr lang="en-US" sz="2000" dirty="0"/>
              <a:t>) = '2005';</a:t>
            </a:r>
            <a:endParaRPr lang="ru-RU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56" y="3284984"/>
            <a:ext cx="6473728" cy="2272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71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60672" cy="1039427"/>
          </a:xfrm>
        </p:spPr>
        <p:txBody>
          <a:bodyPr>
            <a:noAutofit/>
          </a:bodyPr>
          <a:lstStyle/>
          <a:p>
            <a:r>
              <a:rPr lang="ru-RU" sz="1600" dirty="0"/>
              <a:t/>
            </a:r>
            <a:br>
              <a:rPr lang="ru-RU" sz="1600" dirty="0"/>
            </a:br>
            <a:r>
              <a:rPr lang="ru-RU" sz="1600" b="1" dirty="0" smtClean="0"/>
              <a:t>Триггеры</a:t>
            </a:r>
            <a:r>
              <a:rPr lang="en-US" sz="1600" b="1" dirty="0" smtClean="0"/>
              <a:t>. </a:t>
            </a:r>
            <a:r>
              <a:rPr lang="ru-RU" sz="1600" dirty="0" smtClean="0"/>
              <a:t>1. При </a:t>
            </a:r>
            <a:r>
              <a:rPr lang="ru-RU" sz="1600" dirty="0"/>
              <a:t>добавлении новой книги в базу данных, автоматически записывать в лог информацию о дате и времени </a:t>
            </a:r>
            <a:r>
              <a:rPr lang="ru-RU" sz="1600" dirty="0" smtClean="0"/>
              <a:t>добавления.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700809"/>
            <a:ext cx="8136904" cy="216024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ru-RU" sz="1600" dirty="0"/>
              <a:t> </a:t>
            </a:r>
            <a:r>
              <a:rPr lang="ru-RU" sz="1600" dirty="0" smtClean="0"/>
              <a:t>       </a:t>
            </a:r>
            <a:r>
              <a:rPr lang="ru-RU" sz="1600" b="1" dirty="0" smtClean="0"/>
              <a:t>Создание журнала </a:t>
            </a:r>
            <a:r>
              <a:rPr lang="en-US" sz="1600" b="1" dirty="0" err="1" smtClean="0"/>
              <a:t>BookLog</a:t>
            </a:r>
            <a:r>
              <a:rPr lang="ru-RU" sz="1600" b="1" dirty="0"/>
              <a:t>:</a:t>
            </a:r>
            <a:endParaRPr lang="ru-RU" sz="1600" b="1" dirty="0" smtClean="0"/>
          </a:p>
          <a:p>
            <a:pPr marL="114300" indent="0">
              <a:buNone/>
            </a:pPr>
            <a:r>
              <a:rPr lang="en-US" sz="1600" dirty="0" smtClean="0"/>
              <a:t>CREATE </a:t>
            </a:r>
            <a:r>
              <a:rPr lang="en-US" sz="1600" dirty="0"/>
              <a:t>TABLE </a:t>
            </a:r>
            <a:r>
              <a:rPr lang="en-US" sz="1600" dirty="0" err="1"/>
              <a:t>BookLog</a:t>
            </a:r>
            <a:r>
              <a:rPr lang="en-US" sz="1600" dirty="0"/>
              <a:t> (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LogID</a:t>
            </a:r>
            <a:r>
              <a:rPr lang="en-US" sz="1600" dirty="0"/>
              <a:t> INT IDENTITY(1,1) PRIMARY </a:t>
            </a:r>
            <a:r>
              <a:rPr lang="en-US" sz="1600" dirty="0" smtClean="0"/>
              <a:t>KEY</a:t>
            </a:r>
            <a:r>
              <a:rPr lang="ru-RU" sz="1600" dirty="0" smtClean="0"/>
              <a:t>,</a:t>
            </a:r>
          </a:p>
          <a:p>
            <a:pPr marL="114300" indent="0">
              <a:buNone/>
            </a:pPr>
            <a:r>
              <a:rPr lang="en-US" sz="1600" dirty="0" smtClean="0"/>
              <a:t>     </a:t>
            </a:r>
            <a:r>
              <a:rPr lang="en-US" sz="1600" dirty="0" err="1"/>
              <a:t>LogType</a:t>
            </a:r>
            <a:r>
              <a:rPr lang="en-US" sz="1600" dirty="0"/>
              <a:t> VARCHAR(10), </a:t>
            </a:r>
            <a:endParaRPr lang="ru-RU" sz="1600" dirty="0" smtClean="0"/>
          </a:p>
          <a:p>
            <a:pPr marL="114300" indent="0">
              <a:buNone/>
            </a:pPr>
            <a:r>
              <a:rPr lang="ru-RU" sz="1600" dirty="0" smtClean="0"/>
              <a:t>     </a:t>
            </a:r>
            <a:r>
              <a:rPr lang="en-US" sz="1600" dirty="0" err="1" smtClean="0"/>
              <a:t>bookID</a:t>
            </a:r>
            <a:r>
              <a:rPr lang="en-US" sz="1600" dirty="0" smtClean="0"/>
              <a:t> </a:t>
            </a:r>
            <a:r>
              <a:rPr lang="en-US" sz="1600" dirty="0"/>
              <a:t>INT, </a:t>
            </a:r>
            <a:endParaRPr lang="ru-RU" sz="1600" dirty="0" smtClean="0"/>
          </a:p>
          <a:p>
            <a:pPr marL="114300" indent="0">
              <a:buNone/>
            </a:pPr>
            <a:r>
              <a:rPr lang="ru-RU" sz="1600" dirty="0" smtClean="0"/>
              <a:t>     </a:t>
            </a:r>
            <a:r>
              <a:rPr lang="ru-RU" sz="1600" dirty="0" err="1" smtClean="0"/>
              <a:t>DateAdded</a:t>
            </a:r>
            <a:r>
              <a:rPr lang="ru-RU" sz="1600" dirty="0" smtClean="0"/>
              <a:t> DATETIME</a:t>
            </a:r>
            <a:endParaRPr lang="ru-RU" sz="1600" dirty="0"/>
          </a:p>
          <a:p>
            <a:pPr marL="114300" indent="0">
              <a:buNone/>
            </a:pPr>
            <a:r>
              <a:rPr lang="ru-RU" sz="1600" dirty="0"/>
              <a:t>);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50" y="3933056"/>
            <a:ext cx="87534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06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9656" y="548680"/>
            <a:ext cx="8260672" cy="1039427"/>
          </a:xfrm>
        </p:spPr>
        <p:txBody>
          <a:bodyPr>
            <a:noAutofit/>
          </a:bodyPr>
          <a:lstStyle/>
          <a:p>
            <a:r>
              <a:rPr lang="ru-RU" sz="1800" dirty="0" smtClean="0"/>
              <a:t>Создание триггера: При </a:t>
            </a:r>
            <a:r>
              <a:rPr lang="ru-RU" sz="1800" dirty="0"/>
              <a:t>добавлении новой книги в базу данных, автоматически записывать в лог информацию о дате и времени добавления.</a:t>
            </a:r>
            <a:r>
              <a:rPr lang="en-US" sz="1800" dirty="0"/>
              <a:t/>
            </a:r>
            <a:br>
              <a:rPr lang="en-US" sz="1800" dirty="0"/>
            </a:b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ru-RU" sz="1600" b="1" dirty="0" smtClean="0"/>
              <a:t>Создание триггера:</a:t>
            </a:r>
            <a:endParaRPr lang="en-US" sz="1600" b="1" dirty="0" smtClean="0"/>
          </a:p>
          <a:p>
            <a:pPr marL="114300" indent="0">
              <a:buNone/>
            </a:pPr>
            <a:r>
              <a:rPr lang="en-US" sz="1600" dirty="0" smtClean="0"/>
              <a:t>CREATE </a:t>
            </a:r>
            <a:r>
              <a:rPr lang="en-US" sz="1600" dirty="0"/>
              <a:t>TRIGGER </a:t>
            </a:r>
            <a:r>
              <a:rPr lang="en-US" sz="1600" dirty="0" err="1"/>
              <a:t>tr_BookAdded</a:t>
            </a: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ON books</a:t>
            </a:r>
          </a:p>
          <a:p>
            <a:pPr marL="114300" indent="0">
              <a:buNone/>
            </a:pPr>
            <a:r>
              <a:rPr lang="en-US" sz="1600" dirty="0"/>
              <a:t>AFTER INSERT</a:t>
            </a:r>
          </a:p>
          <a:p>
            <a:pPr marL="114300" indent="0">
              <a:buNone/>
            </a:pPr>
            <a:r>
              <a:rPr lang="en-US" sz="1600" dirty="0"/>
              <a:t>AS</a:t>
            </a:r>
          </a:p>
          <a:p>
            <a:pPr marL="114300" indent="0">
              <a:buNone/>
            </a:pPr>
            <a:r>
              <a:rPr lang="en-US" sz="1600" dirty="0"/>
              <a:t>BEGIN</a:t>
            </a:r>
          </a:p>
          <a:p>
            <a:pPr marL="114300" indent="0">
              <a:buNone/>
            </a:pPr>
            <a:r>
              <a:rPr lang="en-US" sz="1600" dirty="0"/>
              <a:t>    INSERT INTO </a:t>
            </a:r>
            <a:r>
              <a:rPr lang="en-US" sz="1600" dirty="0" err="1"/>
              <a:t>BookLog</a:t>
            </a:r>
            <a:r>
              <a:rPr lang="en-US" sz="1600" dirty="0"/>
              <a:t> (</a:t>
            </a:r>
            <a:r>
              <a:rPr lang="en-US" sz="1600" dirty="0" err="1"/>
              <a:t>bookID</a:t>
            </a:r>
            <a:r>
              <a:rPr lang="en-US" sz="1600" dirty="0"/>
              <a:t>, </a:t>
            </a:r>
            <a:r>
              <a:rPr lang="en-US" sz="1600" dirty="0" err="1"/>
              <a:t>DateAdded</a:t>
            </a:r>
            <a:r>
              <a:rPr lang="en-US" sz="1600" dirty="0"/>
              <a:t>)</a:t>
            </a:r>
          </a:p>
          <a:p>
            <a:pPr marL="114300" indent="0">
              <a:buNone/>
            </a:pPr>
            <a:r>
              <a:rPr lang="en-US" sz="1600" dirty="0"/>
              <a:t>    SELECT </a:t>
            </a:r>
            <a:r>
              <a:rPr lang="en-US" sz="1600" dirty="0" err="1"/>
              <a:t>inserted.bookID</a:t>
            </a:r>
            <a:r>
              <a:rPr lang="en-US" sz="1600" dirty="0"/>
              <a:t>, GETDATE()</a:t>
            </a:r>
          </a:p>
          <a:p>
            <a:pPr marL="114300" indent="0">
              <a:buNone/>
            </a:pPr>
            <a:r>
              <a:rPr lang="en-US" sz="1600" dirty="0" smtClean="0"/>
              <a:t>    </a:t>
            </a:r>
            <a:r>
              <a:rPr lang="en-US" sz="1600" dirty="0"/>
              <a:t>FROM inserted;</a:t>
            </a:r>
          </a:p>
          <a:p>
            <a:pPr marL="114300" indent="0">
              <a:buNone/>
            </a:pPr>
            <a:r>
              <a:rPr lang="en-US" sz="1600" dirty="0"/>
              <a:t>END;</a:t>
            </a:r>
            <a:endParaRPr lang="ru-RU" sz="1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808" y="3865594"/>
            <a:ext cx="4358766" cy="296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38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Результат работы триггера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91" y="1916830"/>
            <a:ext cx="8248919" cy="157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311" y="3749570"/>
            <a:ext cx="61531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79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2. При изменении рейтинга книги, автоматически обновлять ее описание в базе данных.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/>
              <a:t>CREATE TRIGGER </a:t>
            </a:r>
            <a:r>
              <a:rPr lang="en-US" dirty="0" err="1"/>
              <a:t>tr_RatingChanged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ON Books</a:t>
            </a:r>
          </a:p>
          <a:p>
            <a:pPr marL="114300" indent="0">
              <a:buNone/>
            </a:pPr>
            <a:r>
              <a:rPr lang="en-US" dirty="0"/>
              <a:t>AFTER UPDATE</a:t>
            </a:r>
          </a:p>
          <a:p>
            <a:pPr marL="114300" indent="0">
              <a:buNone/>
            </a:pPr>
            <a:r>
              <a:rPr lang="en-US" dirty="0"/>
              <a:t>AS</a:t>
            </a:r>
          </a:p>
          <a:p>
            <a:pPr marL="114300" indent="0">
              <a:buNone/>
            </a:pPr>
            <a:r>
              <a:rPr lang="en-US" dirty="0"/>
              <a:t>BEGIN</a:t>
            </a:r>
          </a:p>
          <a:p>
            <a:pPr marL="114300" indent="0">
              <a:buNone/>
            </a:pPr>
            <a:r>
              <a:rPr lang="en-US" dirty="0"/>
              <a:t>    IF UPDATE(</a:t>
            </a:r>
            <a:r>
              <a:rPr lang="en-US" dirty="0" err="1"/>
              <a:t>average_rating</a:t>
            </a:r>
            <a:r>
              <a:rPr lang="en-US" dirty="0"/>
              <a:t>)  -- </a:t>
            </a:r>
            <a:r>
              <a:rPr lang="ru-RU" dirty="0"/>
              <a:t>Проверяем, изменился ли столбец '</a:t>
            </a:r>
            <a:r>
              <a:rPr lang="en-US" dirty="0" err="1"/>
              <a:t>average_rating</a:t>
            </a:r>
            <a:r>
              <a:rPr lang="en-US" dirty="0"/>
              <a:t>'</a:t>
            </a:r>
          </a:p>
          <a:p>
            <a:pPr marL="114300" indent="0">
              <a:buNone/>
            </a:pPr>
            <a:r>
              <a:rPr lang="en-US" dirty="0"/>
              <a:t>    BEGIN</a:t>
            </a:r>
          </a:p>
          <a:p>
            <a:pPr marL="114300" indent="0">
              <a:buNone/>
            </a:pPr>
            <a:r>
              <a:rPr lang="en-US" dirty="0"/>
              <a:t>        UPDATE Books</a:t>
            </a:r>
          </a:p>
          <a:p>
            <a:pPr marL="114300" indent="0">
              <a:buNone/>
            </a:pPr>
            <a:r>
              <a:rPr lang="en-US" dirty="0"/>
              <a:t>        SET Description = '</a:t>
            </a:r>
            <a:r>
              <a:rPr lang="ru-RU" dirty="0"/>
              <a:t>Рейтинг книги изменен'</a:t>
            </a:r>
          </a:p>
          <a:p>
            <a:pPr marL="114300" indent="0">
              <a:buNone/>
            </a:pPr>
            <a:r>
              <a:rPr lang="ru-RU" dirty="0"/>
              <a:t>        </a:t>
            </a:r>
            <a:r>
              <a:rPr lang="en-US" dirty="0"/>
              <a:t>WHERE </a:t>
            </a:r>
            <a:r>
              <a:rPr lang="en-US" dirty="0" err="1"/>
              <a:t>bookID</a:t>
            </a:r>
            <a:r>
              <a:rPr lang="en-US" dirty="0"/>
              <a:t> IN (SELECT </a:t>
            </a:r>
            <a:r>
              <a:rPr lang="en-US" dirty="0" err="1"/>
              <a:t>bookID</a:t>
            </a:r>
            <a:r>
              <a:rPr lang="en-US" dirty="0"/>
              <a:t> FROM inserted);  -- </a:t>
            </a:r>
            <a:r>
              <a:rPr lang="ru-RU" dirty="0"/>
              <a:t>Обновляем описание только для измененных книг</a:t>
            </a:r>
          </a:p>
          <a:p>
            <a:pPr marL="114300" indent="0">
              <a:buNone/>
            </a:pPr>
            <a:r>
              <a:rPr lang="ru-RU" dirty="0"/>
              <a:t>    </a:t>
            </a:r>
            <a:r>
              <a:rPr lang="en-US" dirty="0"/>
              <a:t>END</a:t>
            </a:r>
            <a:r>
              <a:rPr lang="en-US" dirty="0" smtClean="0"/>
              <a:t>;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END;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88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68"/>
            <a:ext cx="83058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22774"/>
            <a:ext cx="73660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597524"/>
            <a:ext cx="40386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663663"/>
            <a:ext cx="812165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27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3. При </a:t>
            </a:r>
            <a:r>
              <a:rPr lang="ru-RU" sz="2000" dirty="0"/>
              <a:t>удалении книги из базы данных, записывать в лог информацию о дате и времени удаления.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700808"/>
            <a:ext cx="8229600" cy="4373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dirty="0"/>
              <a:t>CREATE TRIGGER </a:t>
            </a:r>
            <a:r>
              <a:rPr lang="en-US" sz="1600" dirty="0" err="1"/>
              <a:t>tr_BookRemoved</a:t>
            </a: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ON books</a:t>
            </a:r>
          </a:p>
          <a:p>
            <a:pPr marL="114300" indent="0">
              <a:buNone/>
            </a:pPr>
            <a:r>
              <a:rPr lang="en-US" sz="1600" dirty="0"/>
              <a:t>AFTER DELETE</a:t>
            </a:r>
          </a:p>
          <a:p>
            <a:pPr marL="114300" indent="0">
              <a:buNone/>
            </a:pPr>
            <a:r>
              <a:rPr lang="en-US" sz="1600" dirty="0"/>
              <a:t>AS</a:t>
            </a:r>
          </a:p>
          <a:p>
            <a:pPr marL="114300" indent="0">
              <a:buNone/>
            </a:pPr>
            <a:r>
              <a:rPr lang="en-US" sz="1600" dirty="0"/>
              <a:t>BEGIN</a:t>
            </a:r>
          </a:p>
          <a:p>
            <a:pPr marL="114300" indent="0">
              <a:buNone/>
            </a:pPr>
            <a:r>
              <a:rPr lang="en-US" sz="1600" dirty="0" smtClean="0"/>
              <a:t>    </a:t>
            </a:r>
            <a:r>
              <a:rPr lang="en-US" sz="1600" dirty="0"/>
              <a:t>INSERT INTO </a:t>
            </a:r>
            <a:r>
              <a:rPr lang="en-US" sz="1600" dirty="0" err="1"/>
              <a:t>BookLog</a:t>
            </a:r>
            <a:r>
              <a:rPr lang="en-US" sz="1600" dirty="0"/>
              <a:t> (</a:t>
            </a:r>
            <a:r>
              <a:rPr lang="en-US" sz="1600" dirty="0" err="1"/>
              <a:t>bookID</a:t>
            </a:r>
            <a:r>
              <a:rPr lang="en-US" sz="1600" dirty="0"/>
              <a:t>, </a:t>
            </a:r>
            <a:r>
              <a:rPr lang="en-US" sz="1600" dirty="0" err="1"/>
              <a:t>RemovedDate</a:t>
            </a:r>
            <a:r>
              <a:rPr lang="en-US" sz="1600" dirty="0"/>
              <a:t>)</a:t>
            </a:r>
          </a:p>
          <a:p>
            <a:pPr marL="114300" indent="0">
              <a:buNone/>
            </a:pPr>
            <a:r>
              <a:rPr lang="en-US" sz="1600" dirty="0"/>
              <a:t>    SELECT </a:t>
            </a:r>
            <a:r>
              <a:rPr lang="en-US" sz="1600" dirty="0" err="1"/>
              <a:t>deleted.bookID</a:t>
            </a:r>
            <a:r>
              <a:rPr lang="en-US" sz="1600" dirty="0"/>
              <a:t>, GETDATE()</a:t>
            </a:r>
          </a:p>
          <a:p>
            <a:pPr marL="114300" indent="0">
              <a:buNone/>
            </a:pPr>
            <a:r>
              <a:rPr lang="en-US" sz="1600" dirty="0"/>
              <a:t>    FROM deleted;</a:t>
            </a:r>
          </a:p>
          <a:p>
            <a:pPr marL="114300" indent="0">
              <a:buNone/>
            </a:pPr>
            <a:r>
              <a:rPr lang="en-US" sz="1600" dirty="0"/>
              <a:t>END;</a:t>
            </a:r>
            <a:endParaRPr lang="ru-R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496" y="3645024"/>
            <a:ext cx="5053208" cy="303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43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4" y="476672"/>
            <a:ext cx="9149460" cy="116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956840"/>
            <a:ext cx="381704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36" y="4149080"/>
            <a:ext cx="8939400" cy="1006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08" y="5301208"/>
            <a:ext cx="77343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41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ru-RU" sz="2000" dirty="0" smtClean="0"/>
              <a:t>4. При </a:t>
            </a:r>
            <a:r>
              <a:rPr lang="ru-RU" sz="2000" dirty="0"/>
              <a:t>добавлении нового жанра, автоматически создавать таблицу для хранения информации о книгах этого жанра.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dirty="0"/>
              <a:t>CREATE TRIGGER </a:t>
            </a:r>
            <a:r>
              <a:rPr lang="en-US" dirty="0" err="1"/>
              <a:t>tr_CreateGenreTable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ON books</a:t>
            </a:r>
          </a:p>
          <a:p>
            <a:pPr marL="114300" indent="0">
              <a:buNone/>
            </a:pPr>
            <a:r>
              <a:rPr lang="en-US" dirty="0"/>
              <a:t>AFTER INSERT</a:t>
            </a:r>
          </a:p>
          <a:p>
            <a:pPr marL="114300" indent="0">
              <a:buNone/>
            </a:pPr>
            <a:r>
              <a:rPr lang="en-US" dirty="0"/>
              <a:t>AS</a:t>
            </a:r>
          </a:p>
          <a:p>
            <a:pPr marL="114300" indent="0">
              <a:buNone/>
            </a:pPr>
            <a:r>
              <a:rPr lang="en-US" dirty="0"/>
              <a:t>BEGIN</a:t>
            </a:r>
          </a:p>
          <a:p>
            <a:pPr marL="114300" indent="0">
              <a:buNone/>
            </a:pPr>
            <a:r>
              <a:rPr lang="ru-RU" dirty="0"/>
              <a:t>    -- Получаем новый жанр из вставленной строки</a:t>
            </a:r>
          </a:p>
          <a:p>
            <a:pPr marL="114300" indent="0">
              <a:buNone/>
            </a:pPr>
            <a:r>
              <a:rPr lang="en-US" dirty="0"/>
              <a:t>    DECLARE @</a:t>
            </a:r>
            <a:r>
              <a:rPr lang="en-US" dirty="0" err="1"/>
              <a:t>NewGenre</a:t>
            </a:r>
            <a:r>
              <a:rPr lang="en-US" dirty="0"/>
              <a:t> VARCHAR(255);</a:t>
            </a:r>
          </a:p>
          <a:p>
            <a:pPr marL="114300" indent="0">
              <a:buNone/>
            </a:pPr>
            <a:r>
              <a:rPr lang="en-US" dirty="0" smtClean="0"/>
              <a:t>   </a:t>
            </a:r>
            <a:r>
              <a:rPr lang="en-US" dirty="0"/>
              <a:t>SELECT @</a:t>
            </a:r>
            <a:r>
              <a:rPr lang="en-US" dirty="0" err="1"/>
              <a:t>NewGenre</a:t>
            </a:r>
            <a:r>
              <a:rPr lang="en-US" dirty="0"/>
              <a:t> = genres FROM inserted;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dirty="0"/>
              <a:t>    -- Проверяем, существует ли таблица для этого жанра</a:t>
            </a:r>
          </a:p>
          <a:p>
            <a:pPr marL="114300" indent="0">
              <a:buNone/>
            </a:pPr>
            <a:r>
              <a:rPr lang="en-US" dirty="0"/>
              <a:t>    IF NOT EXISTS (SELECT 1 FROM INFORMATION_SCHEMA.TABLES WHERE TABLE_NAME = @</a:t>
            </a:r>
            <a:r>
              <a:rPr lang="en-US" dirty="0" err="1"/>
              <a:t>NewGenre</a:t>
            </a:r>
            <a:r>
              <a:rPr lang="en-US" dirty="0"/>
              <a:t>)</a:t>
            </a:r>
          </a:p>
          <a:p>
            <a:pPr marL="114300" indent="0">
              <a:buNone/>
            </a:pPr>
            <a:r>
              <a:rPr lang="en-US" dirty="0"/>
              <a:t>    BEGIN</a:t>
            </a:r>
          </a:p>
          <a:p>
            <a:pPr marL="114300" indent="0">
              <a:buNone/>
            </a:pPr>
            <a:r>
              <a:rPr lang="ru-RU" dirty="0"/>
              <a:t>        -- Создаем таблицу для нового жанра</a:t>
            </a:r>
          </a:p>
          <a:p>
            <a:pPr marL="114300" indent="0">
              <a:buNone/>
            </a:pPr>
            <a:r>
              <a:rPr lang="en-US" dirty="0"/>
              <a:t>        DECLARE @</a:t>
            </a:r>
            <a:r>
              <a:rPr lang="en-US" dirty="0" err="1"/>
              <a:t>CreateTableSQL</a:t>
            </a:r>
            <a:r>
              <a:rPr lang="en-US" dirty="0"/>
              <a:t> NVARCHAR(MAX);</a:t>
            </a:r>
          </a:p>
          <a:p>
            <a:pPr marL="114300" indent="0">
              <a:buNone/>
            </a:pPr>
            <a:r>
              <a:rPr lang="en-US" dirty="0"/>
              <a:t>        SET @</a:t>
            </a:r>
            <a:r>
              <a:rPr lang="en-US" dirty="0" err="1"/>
              <a:t>CreateTableSQL</a:t>
            </a:r>
            <a:r>
              <a:rPr lang="en-US" dirty="0"/>
              <a:t> = N'CREATE TABLE ' + @</a:t>
            </a:r>
            <a:r>
              <a:rPr lang="en-US" dirty="0" err="1"/>
              <a:t>NewGenre</a:t>
            </a:r>
            <a:r>
              <a:rPr lang="en-US" dirty="0"/>
              <a:t> + ' (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bookID</a:t>
            </a:r>
            <a:r>
              <a:rPr lang="en-US" dirty="0"/>
              <a:t> INT PRIMARY KEY,</a:t>
            </a:r>
          </a:p>
          <a:p>
            <a:pPr marL="114300" indent="0">
              <a:buNone/>
            </a:pPr>
            <a:r>
              <a:rPr lang="en-US" dirty="0"/>
              <a:t>            title VARCHAR(255),</a:t>
            </a:r>
          </a:p>
          <a:p>
            <a:pPr marL="114300" indent="0">
              <a:buNone/>
            </a:pPr>
            <a:r>
              <a:rPr lang="en-US" dirty="0"/>
              <a:t>            authors VARCHAR(255),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publication_date</a:t>
            </a:r>
            <a:r>
              <a:rPr lang="en-US" dirty="0"/>
              <a:t> DATETIME2(7),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average_rating</a:t>
            </a:r>
            <a:r>
              <a:rPr lang="en-US" dirty="0"/>
              <a:t> FLOAT,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num_pages</a:t>
            </a:r>
            <a:r>
              <a:rPr lang="en-US" dirty="0"/>
              <a:t> INT,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ratings_count</a:t>
            </a:r>
            <a:r>
              <a:rPr lang="en-US" dirty="0"/>
              <a:t> INT,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language_code</a:t>
            </a:r>
            <a:r>
              <a:rPr lang="en-US" dirty="0"/>
              <a:t> NVARCHAR(50),</a:t>
            </a:r>
          </a:p>
          <a:p>
            <a:pPr marL="114300" indent="0">
              <a:buNone/>
            </a:pPr>
            <a:r>
              <a:rPr lang="en-US" dirty="0"/>
              <a:t>            publisher NVARCHAR(100)</a:t>
            </a:r>
          </a:p>
          <a:p>
            <a:pPr marL="114300" indent="0">
              <a:buNone/>
            </a:pPr>
            <a:r>
              <a:rPr lang="ru-RU" dirty="0"/>
              <a:t>        );';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348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Продолжение кода триггера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84784"/>
            <a:ext cx="8579296" cy="5688632"/>
          </a:xfrm>
        </p:spPr>
        <p:txBody>
          <a:bodyPr>
            <a:normAutofit/>
          </a:bodyPr>
          <a:lstStyle/>
          <a:p>
            <a:endParaRPr lang="ru-RU" sz="1400" dirty="0"/>
          </a:p>
          <a:p>
            <a:pPr marL="114300" indent="0">
              <a:buNone/>
            </a:pPr>
            <a:r>
              <a:rPr lang="ru-RU" sz="1400" dirty="0"/>
              <a:t>        -- Выполняем скрипт создания таблицы</a:t>
            </a:r>
          </a:p>
          <a:p>
            <a:pPr marL="114300" indent="0">
              <a:buNone/>
            </a:pPr>
            <a:r>
              <a:rPr lang="en-US" sz="1400" dirty="0"/>
              <a:t>        EXEC </a:t>
            </a:r>
            <a:r>
              <a:rPr lang="en-US" sz="1400" dirty="0" err="1"/>
              <a:t>sp_executesql</a:t>
            </a:r>
            <a:r>
              <a:rPr lang="en-US" sz="1400" dirty="0"/>
              <a:t> @</a:t>
            </a:r>
            <a:r>
              <a:rPr lang="en-US" sz="1400" dirty="0" err="1"/>
              <a:t>CreateTableSQL</a:t>
            </a:r>
            <a:r>
              <a:rPr lang="en-US" sz="1400" dirty="0"/>
              <a:t>;</a:t>
            </a:r>
          </a:p>
          <a:p>
            <a:endParaRPr lang="ru-RU" sz="1400" dirty="0"/>
          </a:p>
          <a:p>
            <a:pPr marL="114300" indent="0">
              <a:buNone/>
            </a:pPr>
            <a:r>
              <a:rPr lang="ru-RU" sz="1400" dirty="0"/>
              <a:t>          -- Вставляем информацию о книге в новую таблицу</a:t>
            </a:r>
          </a:p>
          <a:p>
            <a:pPr marL="114300" indent="0">
              <a:buNone/>
            </a:pPr>
            <a:r>
              <a:rPr lang="en-US" sz="1400" dirty="0"/>
              <a:t>        DECLARE @</a:t>
            </a:r>
            <a:r>
              <a:rPr lang="en-US" sz="1400" dirty="0" err="1"/>
              <a:t>InsertSQL</a:t>
            </a:r>
            <a:r>
              <a:rPr lang="en-US" sz="1400" dirty="0"/>
              <a:t> NVARCHAR(MAX);</a:t>
            </a:r>
          </a:p>
          <a:p>
            <a:pPr marL="114300" indent="0">
              <a:buNone/>
            </a:pPr>
            <a:r>
              <a:rPr lang="en-US" sz="1400" dirty="0"/>
              <a:t>        SET @</a:t>
            </a:r>
            <a:r>
              <a:rPr lang="en-US" sz="1400" dirty="0" err="1"/>
              <a:t>InsertSQL</a:t>
            </a:r>
            <a:r>
              <a:rPr lang="en-US" sz="1400" dirty="0"/>
              <a:t> = N'INSERT INTO ' + QUOTENAME(@</a:t>
            </a:r>
            <a:r>
              <a:rPr lang="en-US" sz="1400" dirty="0" err="1"/>
              <a:t>NewGenre</a:t>
            </a:r>
            <a:r>
              <a:rPr lang="en-US" sz="1400" dirty="0"/>
              <a:t>) + ' (</a:t>
            </a:r>
            <a:r>
              <a:rPr lang="en-US" sz="1400" dirty="0" err="1"/>
              <a:t>bookID</a:t>
            </a:r>
            <a:r>
              <a:rPr lang="en-US" sz="1400" dirty="0"/>
              <a:t>, title, authors, </a:t>
            </a:r>
            <a:r>
              <a:rPr lang="en-US" sz="1400" dirty="0" err="1"/>
              <a:t>publication_date</a:t>
            </a:r>
            <a:r>
              <a:rPr lang="en-US" sz="1400" dirty="0"/>
              <a:t>, </a:t>
            </a:r>
          </a:p>
          <a:p>
            <a:pPr marL="114300" indent="0">
              <a:buNone/>
            </a:pPr>
            <a:r>
              <a:rPr lang="en-US" sz="1400" dirty="0" err="1"/>
              <a:t>average_rating</a:t>
            </a:r>
            <a:r>
              <a:rPr lang="en-US" sz="1400" dirty="0"/>
              <a:t>, </a:t>
            </a:r>
            <a:r>
              <a:rPr lang="en-US" sz="1400" dirty="0" err="1"/>
              <a:t>num_pages</a:t>
            </a:r>
            <a:r>
              <a:rPr lang="en-US" sz="1400" dirty="0"/>
              <a:t>, </a:t>
            </a:r>
            <a:r>
              <a:rPr lang="en-US" sz="1400" dirty="0" err="1"/>
              <a:t>ratings_count</a:t>
            </a:r>
            <a:r>
              <a:rPr lang="en-US" sz="1400" dirty="0"/>
              <a:t>, </a:t>
            </a:r>
            <a:r>
              <a:rPr lang="en-US" sz="1400" dirty="0" err="1"/>
              <a:t>language_code</a:t>
            </a:r>
            <a:r>
              <a:rPr lang="en-US" sz="1400" dirty="0"/>
              <a:t>, publisher)</a:t>
            </a:r>
          </a:p>
          <a:p>
            <a:pPr marL="114300" indent="0">
              <a:buNone/>
            </a:pPr>
            <a:r>
              <a:rPr lang="en-US" sz="1400" dirty="0"/>
              <a:t>        SELECT </a:t>
            </a:r>
            <a:r>
              <a:rPr lang="en-US" sz="1400" dirty="0" err="1"/>
              <a:t>bookID</a:t>
            </a:r>
            <a:r>
              <a:rPr lang="en-US" sz="1400" dirty="0"/>
              <a:t>, title, authors, </a:t>
            </a:r>
            <a:r>
              <a:rPr lang="en-US" sz="1400" dirty="0" err="1"/>
              <a:t>publication_date</a:t>
            </a:r>
            <a:r>
              <a:rPr lang="en-US" sz="1400" dirty="0"/>
              <a:t>, </a:t>
            </a:r>
            <a:r>
              <a:rPr lang="en-US" sz="1400" dirty="0" err="1"/>
              <a:t>average_rating</a:t>
            </a:r>
            <a:r>
              <a:rPr lang="en-US" sz="1400" dirty="0"/>
              <a:t>, </a:t>
            </a:r>
            <a:r>
              <a:rPr lang="en-US" sz="1400" dirty="0" err="1"/>
              <a:t>num_pages</a:t>
            </a:r>
            <a:r>
              <a:rPr lang="en-US" sz="1400" dirty="0"/>
              <a:t>, </a:t>
            </a:r>
            <a:r>
              <a:rPr lang="en-US" sz="1400" dirty="0" err="1"/>
              <a:t>ratings_count</a:t>
            </a:r>
            <a:r>
              <a:rPr lang="en-US" sz="1400" dirty="0"/>
              <a:t>, </a:t>
            </a:r>
            <a:r>
              <a:rPr lang="en-US" sz="1400" dirty="0" err="1"/>
              <a:t>language_code</a:t>
            </a:r>
            <a:r>
              <a:rPr lang="en-US" sz="1400" dirty="0"/>
              <a:t>, publisher</a:t>
            </a:r>
          </a:p>
          <a:p>
            <a:pPr marL="114300" indent="0">
              <a:buNone/>
            </a:pPr>
            <a:r>
              <a:rPr lang="en-US" sz="1400" dirty="0"/>
              <a:t>        FROM inserted;';</a:t>
            </a:r>
          </a:p>
          <a:p>
            <a:endParaRPr lang="ru-RU" sz="1400" dirty="0"/>
          </a:p>
          <a:p>
            <a:pPr marL="114300" indent="0">
              <a:buNone/>
            </a:pPr>
            <a:r>
              <a:rPr lang="ru-RU" sz="1400" dirty="0"/>
              <a:t>        -- Выполняем скрипт вставки</a:t>
            </a:r>
          </a:p>
          <a:p>
            <a:pPr marL="114300" indent="0">
              <a:buNone/>
            </a:pPr>
            <a:r>
              <a:rPr lang="en-US" sz="1400" dirty="0"/>
              <a:t>        EXEC </a:t>
            </a:r>
            <a:r>
              <a:rPr lang="en-US" sz="1400" dirty="0" err="1"/>
              <a:t>sp_executesql</a:t>
            </a:r>
            <a:r>
              <a:rPr lang="en-US" sz="1400" dirty="0"/>
              <a:t> @</a:t>
            </a:r>
            <a:r>
              <a:rPr lang="en-US" sz="1400" dirty="0" err="1"/>
              <a:t>InsertSQL</a:t>
            </a:r>
            <a:r>
              <a:rPr lang="en-US" sz="1400" dirty="0"/>
              <a:t>;</a:t>
            </a:r>
          </a:p>
          <a:p>
            <a:pPr marL="114300" indent="0">
              <a:buNone/>
            </a:pPr>
            <a:r>
              <a:rPr lang="en-US" sz="1400" dirty="0"/>
              <a:t>    END</a:t>
            </a:r>
          </a:p>
          <a:p>
            <a:pPr marL="114300" indent="0">
              <a:buNone/>
            </a:pPr>
            <a:r>
              <a:rPr lang="en-US" sz="1400" dirty="0"/>
              <a:t>END;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20018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48" y="404664"/>
            <a:ext cx="8964488" cy="590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316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31215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24" y="1916832"/>
            <a:ext cx="7730390" cy="89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12976"/>
            <a:ext cx="23241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847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ru-RU" sz="2000" dirty="0" smtClean="0"/>
              <a:t>5. При </a:t>
            </a:r>
            <a:r>
              <a:rPr lang="ru-RU" sz="2000" dirty="0"/>
              <a:t>изменении информации об авторе, автоматически обновлять информацию о книгах, написанных этим автором.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768667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224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026400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64" y="4293096"/>
            <a:ext cx="7975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20" y="3140968"/>
            <a:ext cx="85248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03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867328" cy="1143000"/>
          </a:xfrm>
        </p:spPr>
        <p:txBody>
          <a:bodyPr>
            <a:noAutofit/>
          </a:bodyPr>
          <a:lstStyle/>
          <a:p>
            <a:r>
              <a:rPr lang="ru-RU" sz="1600" dirty="0"/>
              <a:t/>
            </a:r>
            <a:br>
              <a:rPr lang="ru-RU" sz="1600" dirty="0"/>
            </a:br>
            <a:r>
              <a:rPr lang="ru-RU" sz="1600" b="1" dirty="0"/>
              <a:t>Хранимые процедуры: </a:t>
            </a:r>
            <a:r>
              <a:rPr lang="ru-RU" sz="1600" dirty="0" smtClean="0"/>
              <a:t>1. Возвращать </a:t>
            </a:r>
            <a:r>
              <a:rPr lang="ru-RU" sz="1600" dirty="0"/>
              <a:t>список книг, соответствующих заданным критериям поиска (жанр, автор, год выпуска, рейтинг, количество страниц).</a:t>
            </a:r>
            <a:br>
              <a:rPr lang="ru-RU" sz="1600" dirty="0"/>
            </a:br>
            <a:endParaRPr lang="ru-RU" sz="1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37356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/>
              <a:t>CREATE </a:t>
            </a:r>
            <a:r>
              <a:rPr lang="ru-RU" sz="1400" dirty="0" smtClean="0"/>
              <a:t> </a:t>
            </a:r>
            <a:r>
              <a:rPr lang="en-US" sz="1400" dirty="0" smtClean="0"/>
              <a:t>PROCEDURE </a:t>
            </a:r>
            <a:r>
              <a:rPr lang="ru-RU" sz="1400" dirty="0" smtClean="0"/>
              <a:t> </a:t>
            </a:r>
            <a:r>
              <a:rPr lang="en-US" sz="1400" dirty="0" err="1" smtClean="0"/>
              <a:t>SearchBooks</a:t>
            </a:r>
            <a:endParaRPr lang="en-US" sz="1400" dirty="0"/>
          </a:p>
          <a:p>
            <a:pPr marL="114300" indent="0">
              <a:buNone/>
            </a:pPr>
            <a:r>
              <a:rPr lang="ru-RU" sz="1400" dirty="0"/>
              <a:t>(</a:t>
            </a:r>
          </a:p>
          <a:p>
            <a:pPr marL="114300" indent="0">
              <a:buNone/>
            </a:pPr>
            <a:r>
              <a:rPr lang="en-US" sz="1400" dirty="0"/>
              <a:t>    @Genre VARCHAR(255) = NULL,</a:t>
            </a:r>
          </a:p>
          <a:p>
            <a:pPr marL="114300" indent="0">
              <a:buNone/>
            </a:pPr>
            <a:r>
              <a:rPr lang="en-US" sz="1400" dirty="0"/>
              <a:t>    @Author VARCHAR(255) = NULL,</a:t>
            </a:r>
          </a:p>
          <a:p>
            <a:pPr marL="114300" indent="0">
              <a:buNone/>
            </a:pPr>
            <a:r>
              <a:rPr lang="en-US" sz="1400" dirty="0"/>
              <a:t>    @Year INT = NULL,</a:t>
            </a:r>
          </a:p>
          <a:p>
            <a:pPr marL="114300" indent="0">
              <a:buNone/>
            </a:pPr>
            <a:r>
              <a:rPr lang="en-US" sz="1400" dirty="0"/>
              <a:t>    @Rating DECIMAL(2, 1) = NULL,</a:t>
            </a:r>
          </a:p>
          <a:p>
            <a:pPr marL="114300" indent="0">
              <a:buNone/>
            </a:pPr>
            <a:r>
              <a:rPr lang="en-US" sz="1400" dirty="0"/>
              <a:t>    @Pages INT = NULL</a:t>
            </a:r>
          </a:p>
          <a:p>
            <a:pPr marL="114300" indent="0">
              <a:buNone/>
            </a:pPr>
            <a:r>
              <a:rPr lang="ru-RU" sz="1400" dirty="0"/>
              <a:t>)</a:t>
            </a:r>
          </a:p>
          <a:p>
            <a:pPr marL="114300" indent="0">
              <a:buNone/>
            </a:pPr>
            <a:r>
              <a:rPr lang="en-US" sz="1400" dirty="0"/>
              <a:t>AS</a:t>
            </a:r>
          </a:p>
          <a:p>
            <a:pPr marL="114300" indent="0">
              <a:buNone/>
            </a:pPr>
            <a:r>
              <a:rPr lang="en-US" sz="1400" dirty="0"/>
              <a:t>BEGIN</a:t>
            </a:r>
          </a:p>
          <a:p>
            <a:pPr marL="114300" indent="0">
              <a:buNone/>
            </a:pPr>
            <a:r>
              <a:rPr lang="en-US" sz="1400" dirty="0"/>
              <a:t>    SELECT * </a:t>
            </a:r>
          </a:p>
          <a:p>
            <a:pPr marL="114300" indent="0">
              <a:buNone/>
            </a:pPr>
            <a:r>
              <a:rPr lang="en-US" sz="1400" dirty="0"/>
              <a:t>    FROM books</a:t>
            </a:r>
          </a:p>
          <a:p>
            <a:pPr marL="114300" indent="0">
              <a:buNone/>
            </a:pPr>
            <a:r>
              <a:rPr lang="en-US" sz="1400" dirty="0"/>
              <a:t>    WHERE</a:t>
            </a:r>
          </a:p>
          <a:p>
            <a:pPr marL="114300" indent="0">
              <a:buNone/>
            </a:pPr>
            <a:r>
              <a:rPr lang="en-US" sz="1400" dirty="0"/>
              <a:t>        (@Genre IS NULL OR genres = @Genre)</a:t>
            </a:r>
          </a:p>
          <a:p>
            <a:pPr marL="114300" indent="0">
              <a:buNone/>
            </a:pPr>
            <a:r>
              <a:rPr lang="en-US" sz="1400" dirty="0"/>
              <a:t>        AND (@Author IS NULL OR </a:t>
            </a:r>
            <a:r>
              <a:rPr lang="en-US" sz="1400" dirty="0" smtClean="0"/>
              <a:t>author</a:t>
            </a:r>
            <a:r>
              <a:rPr lang="en-US" sz="1400" dirty="0"/>
              <a:t>s</a:t>
            </a:r>
            <a:r>
              <a:rPr lang="en-US" sz="1400" dirty="0" smtClean="0"/>
              <a:t> </a:t>
            </a:r>
            <a:r>
              <a:rPr lang="en-US" sz="1400" dirty="0"/>
              <a:t>= @Author)</a:t>
            </a:r>
          </a:p>
          <a:p>
            <a:pPr marL="114300" indent="0">
              <a:buNone/>
            </a:pPr>
            <a:r>
              <a:rPr lang="en-US" sz="1400" dirty="0"/>
              <a:t>        AND (@Year IS NULL OR YEAR(</a:t>
            </a:r>
            <a:r>
              <a:rPr lang="en-US" sz="1400" dirty="0" err="1"/>
              <a:t>publication_date</a:t>
            </a:r>
            <a:r>
              <a:rPr lang="en-US" sz="1400" dirty="0"/>
              <a:t>) = @Year)</a:t>
            </a:r>
          </a:p>
          <a:p>
            <a:pPr marL="114300" indent="0">
              <a:buNone/>
            </a:pPr>
            <a:r>
              <a:rPr lang="en-US" sz="1400" dirty="0"/>
              <a:t>        AND (@Rating IS NULL OR </a:t>
            </a:r>
            <a:r>
              <a:rPr lang="en-US" sz="1400" dirty="0" err="1"/>
              <a:t>average_rating</a:t>
            </a:r>
            <a:r>
              <a:rPr lang="en-US" sz="1400" dirty="0"/>
              <a:t> = @Rating)</a:t>
            </a:r>
          </a:p>
          <a:p>
            <a:pPr marL="114300" indent="0">
              <a:buNone/>
            </a:pPr>
            <a:r>
              <a:rPr lang="en-US" sz="1400" dirty="0"/>
              <a:t>        AND (@Pages IS NULL OR </a:t>
            </a:r>
            <a:r>
              <a:rPr lang="en-US" sz="1400" dirty="0" err="1"/>
              <a:t>num_pages</a:t>
            </a:r>
            <a:r>
              <a:rPr lang="en-US" sz="1400" dirty="0"/>
              <a:t> = @Pages)</a:t>
            </a:r>
          </a:p>
          <a:p>
            <a:pPr marL="114300" indent="0">
              <a:buNone/>
            </a:pPr>
            <a:r>
              <a:rPr lang="en-US" sz="1400" dirty="0"/>
              <a:t>END</a:t>
            </a:r>
            <a:endParaRPr lang="ru-RU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8593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52736"/>
            <a:ext cx="6774529" cy="5121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439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ru-RU" sz="2800" dirty="0" smtClean="0"/>
              <a:t>Результаты работы процедуры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060848"/>
            <a:ext cx="8572843" cy="1877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271392"/>
            <a:ext cx="88677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421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2. Вычислять </a:t>
            </a:r>
            <a:r>
              <a:rPr lang="ru-RU" sz="2000" dirty="0"/>
              <a:t>средний рейтинг книг определенного жанра.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4828" y="1524209"/>
            <a:ext cx="8229600" cy="4373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dirty="0"/>
              <a:t>CREATE PROCEDURE </a:t>
            </a:r>
            <a:r>
              <a:rPr lang="en-US" sz="1400" dirty="0" err="1"/>
              <a:t>GetAverageRatingByGenre</a:t>
            </a:r>
            <a:endParaRPr lang="en-US" sz="1400" dirty="0"/>
          </a:p>
          <a:p>
            <a:pPr marL="114300" indent="0">
              <a:buNone/>
            </a:pPr>
            <a:r>
              <a:rPr lang="ru-RU" sz="1400" dirty="0"/>
              <a:t>(</a:t>
            </a:r>
          </a:p>
          <a:p>
            <a:pPr marL="114300" indent="0">
              <a:buNone/>
            </a:pPr>
            <a:r>
              <a:rPr lang="en-US" sz="1400" dirty="0"/>
              <a:t>    @Genre VARCHAR(255)</a:t>
            </a:r>
          </a:p>
          <a:p>
            <a:pPr marL="114300" indent="0">
              <a:buNone/>
            </a:pPr>
            <a:r>
              <a:rPr lang="ru-RU" sz="1400" dirty="0"/>
              <a:t>)</a:t>
            </a:r>
          </a:p>
          <a:p>
            <a:pPr marL="114300" indent="0">
              <a:buNone/>
            </a:pPr>
            <a:r>
              <a:rPr lang="en-US" sz="1400" dirty="0"/>
              <a:t>AS</a:t>
            </a:r>
          </a:p>
          <a:p>
            <a:pPr marL="114300" indent="0">
              <a:buNone/>
            </a:pPr>
            <a:r>
              <a:rPr lang="en-US" sz="1400" dirty="0"/>
              <a:t>BEGIN</a:t>
            </a:r>
          </a:p>
          <a:p>
            <a:pPr marL="114300" indent="0">
              <a:buNone/>
            </a:pPr>
            <a:r>
              <a:rPr lang="en-US" sz="1400" dirty="0"/>
              <a:t>    SELECT AVG(</a:t>
            </a:r>
            <a:r>
              <a:rPr lang="en-US" sz="1400" dirty="0" err="1"/>
              <a:t>average_rating</a:t>
            </a:r>
            <a:r>
              <a:rPr lang="en-US" sz="1400" dirty="0"/>
              <a:t>) AS </a:t>
            </a:r>
            <a:r>
              <a:rPr lang="en-US" sz="1400" dirty="0" err="1"/>
              <a:t>average_rating_by_genres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    FROM books</a:t>
            </a:r>
          </a:p>
          <a:p>
            <a:pPr marL="114300" indent="0">
              <a:buNone/>
            </a:pPr>
            <a:r>
              <a:rPr lang="en-US" sz="1400" dirty="0"/>
              <a:t>    WHERE genres = @Genre</a:t>
            </a:r>
          </a:p>
          <a:p>
            <a:pPr marL="114300" indent="0">
              <a:buNone/>
            </a:pPr>
            <a:r>
              <a:rPr lang="en-US" sz="1400" dirty="0"/>
              <a:t>END</a:t>
            </a:r>
            <a:endParaRPr lang="ru-RU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352" y="3450672"/>
            <a:ext cx="5832648" cy="320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606972"/>
            <a:ext cx="4369827" cy="12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179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260672" cy="1039427"/>
          </a:xfrm>
        </p:spPr>
        <p:txBody>
          <a:bodyPr>
            <a:noAutofit/>
          </a:bodyPr>
          <a:lstStyle/>
          <a:p>
            <a:r>
              <a:rPr lang="ru-RU" sz="2000" dirty="0" smtClean="0"/>
              <a:t>3. Определять </a:t>
            </a:r>
            <a:r>
              <a:rPr lang="ru-RU" sz="2000" dirty="0"/>
              <a:t>топ 5 самых популярных книг по среднему рейтингу</a:t>
            </a:r>
            <a:r>
              <a:rPr lang="ru-RU" sz="2000" dirty="0" smtClean="0"/>
              <a:t>.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/>
              <a:t>CREATE PROCEDURE GetTop5PopularBooks</a:t>
            </a:r>
          </a:p>
          <a:p>
            <a:pPr marL="114300" indent="0">
              <a:buNone/>
            </a:pPr>
            <a:r>
              <a:rPr lang="en-US" sz="1800" dirty="0"/>
              <a:t>AS</a:t>
            </a:r>
          </a:p>
          <a:p>
            <a:pPr marL="114300" indent="0">
              <a:buNone/>
            </a:pPr>
            <a:r>
              <a:rPr lang="en-US" sz="1800" dirty="0"/>
              <a:t>BEGIN</a:t>
            </a:r>
          </a:p>
          <a:p>
            <a:pPr marL="114300" indent="0">
              <a:buNone/>
            </a:pPr>
            <a:r>
              <a:rPr lang="en-US" sz="1800" dirty="0"/>
              <a:t>    SELECT TOP 5 title, </a:t>
            </a:r>
            <a:r>
              <a:rPr lang="en-US" sz="1800" dirty="0" err="1"/>
              <a:t>average_rating</a:t>
            </a: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    FROM books</a:t>
            </a:r>
          </a:p>
          <a:p>
            <a:pPr marL="114300" indent="0">
              <a:buNone/>
            </a:pPr>
            <a:r>
              <a:rPr lang="en-US" sz="1800" dirty="0"/>
              <a:t>    ORDER BY </a:t>
            </a:r>
            <a:r>
              <a:rPr lang="en-US" sz="1800" dirty="0" err="1"/>
              <a:t>average_rating</a:t>
            </a:r>
            <a:r>
              <a:rPr lang="en-US" sz="1800" dirty="0"/>
              <a:t> DESC</a:t>
            </a:r>
          </a:p>
          <a:p>
            <a:pPr marL="114300" indent="0">
              <a:buNone/>
            </a:pPr>
            <a:r>
              <a:rPr lang="en-US" sz="1800" dirty="0"/>
              <a:t>END</a:t>
            </a:r>
            <a:endParaRPr lang="ru-RU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773009"/>
            <a:ext cx="4997182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20" y="5013176"/>
            <a:ext cx="3834216" cy="1738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8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 smtClean="0"/>
              <a:t>4. Выводить </a:t>
            </a:r>
            <a:r>
              <a:rPr lang="ru-RU" sz="1600" dirty="0"/>
              <a:t>статистику по книгам (количество книг по жанрам,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авторам</a:t>
            </a:r>
            <a:r>
              <a:rPr lang="ru-RU" sz="1600" dirty="0"/>
              <a:t>, годам выпуска) в виде таблицы.</a:t>
            </a:r>
            <a:br>
              <a:rPr lang="ru-RU" sz="1600" dirty="0"/>
            </a:br>
            <a:endParaRPr lang="ru-RU" sz="1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50892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US" dirty="0"/>
              <a:t>CREATE PROCEDURE </a:t>
            </a:r>
            <a:r>
              <a:rPr lang="en-US" dirty="0" err="1"/>
              <a:t>GetBookStatistics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AS</a:t>
            </a:r>
          </a:p>
          <a:p>
            <a:pPr marL="114300" indent="0">
              <a:buNone/>
            </a:pPr>
            <a:r>
              <a:rPr lang="en-US" dirty="0"/>
              <a:t>BEGIN</a:t>
            </a:r>
          </a:p>
          <a:p>
            <a:endParaRPr lang="ru-RU" dirty="0"/>
          </a:p>
          <a:p>
            <a:pPr marL="114300" indent="0">
              <a:buNone/>
            </a:pPr>
            <a:r>
              <a:rPr lang="en-US" dirty="0" smtClean="0"/>
              <a:t>SELECT </a:t>
            </a:r>
            <a:r>
              <a:rPr lang="en-US" dirty="0"/>
              <a:t>genres, COUNT(*) AS </a:t>
            </a:r>
            <a:r>
              <a:rPr lang="en-US" dirty="0" err="1"/>
              <a:t>BookCount_by_genres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FROM books</a:t>
            </a:r>
          </a:p>
          <a:p>
            <a:pPr marL="114300" indent="0">
              <a:buNone/>
            </a:pPr>
            <a:r>
              <a:rPr lang="en-US" dirty="0"/>
              <a:t>    GROUP BY genres</a:t>
            </a:r>
          </a:p>
          <a:p>
            <a:pPr marL="114300" indent="0">
              <a:buNone/>
            </a:pPr>
            <a:r>
              <a:rPr lang="en-US" dirty="0"/>
              <a:t>    </a:t>
            </a:r>
          </a:p>
          <a:p>
            <a:endParaRPr lang="ru-RU" dirty="0"/>
          </a:p>
          <a:p>
            <a:pPr marL="114300" indent="0">
              <a:buNone/>
            </a:pPr>
            <a:r>
              <a:rPr lang="en-US" dirty="0" smtClean="0"/>
              <a:t>SELECT </a:t>
            </a:r>
            <a:r>
              <a:rPr lang="en-US" dirty="0"/>
              <a:t>authors, COUNT(*) AS </a:t>
            </a:r>
            <a:r>
              <a:rPr lang="en-US" dirty="0" err="1"/>
              <a:t>BookCount_by_authors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FROM books</a:t>
            </a:r>
          </a:p>
          <a:p>
            <a:pPr marL="114300" indent="0">
              <a:buNone/>
            </a:pPr>
            <a:r>
              <a:rPr lang="en-US" dirty="0"/>
              <a:t>    GROUP BY authors</a:t>
            </a:r>
          </a:p>
          <a:p>
            <a:pPr marL="114300" indent="0">
              <a:buNone/>
            </a:pPr>
            <a:r>
              <a:rPr lang="en-US" dirty="0"/>
              <a:t>    </a:t>
            </a:r>
            <a:endParaRPr lang="ru-RU" dirty="0"/>
          </a:p>
          <a:p>
            <a:pPr marL="114300" indent="0">
              <a:buNone/>
            </a:pPr>
            <a:r>
              <a:rPr lang="en-US" dirty="0" smtClean="0"/>
              <a:t>SELECT </a:t>
            </a:r>
            <a:r>
              <a:rPr lang="en-US" dirty="0"/>
              <a:t>YEAR(</a:t>
            </a:r>
            <a:r>
              <a:rPr lang="en-US" dirty="0" err="1"/>
              <a:t>publication_date</a:t>
            </a:r>
            <a:r>
              <a:rPr lang="en-US" dirty="0"/>
              <a:t>), COUNT(*) AS </a:t>
            </a:r>
            <a:r>
              <a:rPr lang="en-US" dirty="0" err="1"/>
              <a:t>BookCount_by_year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FROM books</a:t>
            </a:r>
          </a:p>
          <a:p>
            <a:pPr marL="114300" indent="0">
              <a:buNone/>
            </a:pPr>
            <a:r>
              <a:rPr lang="en-US" dirty="0"/>
              <a:t>    GROUP BY YEAR(</a:t>
            </a:r>
            <a:r>
              <a:rPr lang="en-US" dirty="0" err="1"/>
              <a:t>publication_date</a:t>
            </a:r>
            <a:r>
              <a:rPr lang="en-US" dirty="0"/>
              <a:t>)</a:t>
            </a:r>
          </a:p>
          <a:p>
            <a:endParaRPr lang="ru-RU" dirty="0"/>
          </a:p>
          <a:p>
            <a:pPr marL="114300" indent="0">
              <a:buNone/>
            </a:pPr>
            <a:r>
              <a:rPr lang="en-US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37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026" y="316632"/>
            <a:ext cx="4404196" cy="6300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36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60080"/>
            <a:ext cx="6984776" cy="5711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87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5. Вычислять </a:t>
            </a:r>
            <a:r>
              <a:rPr lang="ru-RU" sz="2000" dirty="0"/>
              <a:t>среднее количество оценок книг, выпущенных в определенном году.</a:t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556792"/>
            <a:ext cx="8229600" cy="437356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/>
              <a:t>CREATE PROCEDURE </a:t>
            </a:r>
            <a:r>
              <a:rPr lang="en-US" sz="1400" dirty="0" err="1"/>
              <a:t>GetAverageRatingsByYear</a:t>
            </a:r>
            <a:endParaRPr lang="en-US" sz="1400" dirty="0"/>
          </a:p>
          <a:p>
            <a:pPr marL="114300" indent="0">
              <a:buNone/>
            </a:pPr>
            <a:r>
              <a:rPr lang="ru-RU" sz="1400" dirty="0"/>
              <a:t>(</a:t>
            </a:r>
          </a:p>
          <a:p>
            <a:pPr marL="114300" indent="0">
              <a:buNone/>
            </a:pPr>
            <a:r>
              <a:rPr lang="en-US" sz="1400" dirty="0"/>
              <a:t>    @Year INT</a:t>
            </a:r>
          </a:p>
          <a:p>
            <a:pPr marL="114300" indent="0">
              <a:buNone/>
            </a:pPr>
            <a:r>
              <a:rPr lang="ru-RU" sz="1400" dirty="0"/>
              <a:t>)</a:t>
            </a:r>
          </a:p>
          <a:p>
            <a:pPr marL="114300" indent="0">
              <a:buNone/>
            </a:pPr>
            <a:r>
              <a:rPr lang="en-US" sz="1400" dirty="0"/>
              <a:t>AS</a:t>
            </a:r>
          </a:p>
          <a:p>
            <a:pPr marL="114300" indent="0">
              <a:buNone/>
            </a:pPr>
            <a:r>
              <a:rPr lang="en-US" sz="1400" dirty="0"/>
              <a:t>BEGIN</a:t>
            </a:r>
          </a:p>
          <a:p>
            <a:pPr marL="114300" indent="0">
              <a:buNone/>
            </a:pPr>
            <a:r>
              <a:rPr lang="en-US" sz="1400" dirty="0"/>
              <a:t>    SELECT AVG(</a:t>
            </a:r>
            <a:r>
              <a:rPr lang="en-US" sz="1400" dirty="0" err="1"/>
              <a:t>ratings_count</a:t>
            </a:r>
            <a:r>
              <a:rPr lang="en-US" sz="1400" dirty="0"/>
              <a:t>) AS </a:t>
            </a:r>
            <a:r>
              <a:rPr lang="en-US" sz="1400" dirty="0" err="1"/>
              <a:t>AverageRatingsCount_by_year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    FROM books</a:t>
            </a:r>
          </a:p>
          <a:p>
            <a:pPr marL="114300" indent="0">
              <a:buNone/>
            </a:pPr>
            <a:r>
              <a:rPr lang="en-US" sz="1400" dirty="0"/>
              <a:t>    WHERE YEAR(</a:t>
            </a:r>
            <a:r>
              <a:rPr lang="en-US" sz="1400" dirty="0" err="1"/>
              <a:t>publication_date</a:t>
            </a:r>
            <a:r>
              <a:rPr lang="en-US" sz="1400" dirty="0"/>
              <a:t>) = @Year</a:t>
            </a:r>
          </a:p>
          <a:p>
            <a:pPr marL="114300" indent="0">
              <a:buNone/>
            </a:pPr>
            <a:r>
              <a:rPr lang="en-US" sz="1400" dirty="0"/>
              <a:t>END</a:t>
            </a:r>
            <a:endParaRPr lang="ru-RU" sz="1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501008"/>
            <a:ext cx="4904220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18742"/>
            <a:ext cx="3816424" cy="1360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21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60672" cy="1039427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Визуализация данных в </a:t>
            </a:r>
            <a:r>
              <a:rPr lang="ru-RU" sz="2000" b="1" dirty="0" err="1"/>
              <a:t>Jupyter</a:t>
            </a:r>
            <a:r>
              <a:rPr lang="ru-RU" sz="2000" b="1" dirty="0"/>
              <a:t> </a:t>
            </a:r>
            <a:r>
              <a:rPr lang="ru-RU" sz="2000" b="1" dirty="0" err="1" smtClean="0"/>
              <a:t>Notebook</a:t>
            </a:r>
            <a:r>
              <a:rPr lang="ru-RU" sz="2000" b="1" dirty="0" smtClean="0"/>
              <a:t>: </a:t>
            </a:r>
            <a:br>
              <a:rPr lang="ru-RU" sz="2000" b="1" dirty="0" smtClean="0"/>
            </a:br>
            <a:r>
              <a:rPr lang="ru-RU" sz="2000" dirty="0" smtClean="0"/>
              <a:t>1.</a:t>
            </a:r>
            <a:r>
              <a:rPr lang="ru-RU" sz="2000" b="1" dirty="0" smtClean="0"/>
              <a:t> </a:t>
            </a:r>
            <a:r>
              <a:rPr lang="ru-RU" sz="2000" dirty="0" smtClean="0"/>
              <a:t>Постройте </a:t>
            </a:r>
            <a:r>
              <a:rPr lang="ru-RU" sz="2000" dirty="0"/>
              <a:t>гистограмму распределения рейтинга книг.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4149161" cy="364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053695"/>
            <a:ext cx="5100262" cy="377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71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АНАЛИЗ ГИСТОГРАММЫ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Весь </a:t>
            </a:r>
            <a:r>
              <a:rPr lang="ru-RU" sz="2000" dirty="0" err="1"/>
              <a:t>датасет</a:t>
            </a:r>
            <a:r>
              <a:rPr lang="ru-RU" sz="2000" dirty="0"/>
              <a:t> </a:t>
            </a:r>
            <a:r>
              <a:rPr lang="ru-RU" sz="2000" dirty="0" err="1"/>
              <a:t>books</a:t>
            </a:r>
            <a:r>
              <a:rPr lang="ru-RU" sz="2000" dirty="0"/>
              <a:t> содержит всего 10352 книги</a:t>
            </a:r>
            <a:r>
              <a:rPr lang="ru-RU" sz="2000" dirty="0" smtClean="0"/>
              <a:t>.</a:t>
            </a:r>
            <a:endParaRPr lang="ru-RU" sz="2000" dirty="0"/>
          </a:p>
          <a:p>
            <a:r>
              <a:rPr lang="ru-RU" sz="2000" dirty="0"/>
              <a:t>С помощью гистограммы распределения рейтинга книг можно сказать</a:t>
            </a:r>
            <a:r>
              <a:rPr lang="ru-RU" sz="2000" dirty="0" smtClean="0"/>
              <a:t>, что</a:t>
            </a:r>
            <a:endParaRPr lang="ru-RU" sz="2000" dirty="0"/>
          </a:p>
          <a:p>
            <a:pPr lvl="1"/>
            <a:r>
              <a:rPr lang="ru-RU" dirty="0"/>
              <a:t>5427 книг имеют средний рейтинг от 3,5 до 4,т.е этот интервал самый распространенный;</a:t>
            </a:r>
          </a:p>
          <a:p>
            <a:pPr lvl="1"/>
            <a:r>
              <a:rPr lang="ru-RU" dirty="0"/>
              <a:t>4715 книг имеют средний рейтинг от 4 до 4,5;</a:t>
            </a:r>
          </a:p>
          <a:p>
            <a:pPr lvl="1"/>
            <a:r>
              <a:rPr lang="ru-RU" dirty="0"/>
              <a:t>644 книги с рейтингом от 3 до 3,5;</a:t>
            </a:r>
          </a:p>
          <a:p>
            <a:pPr lvl="1"/>
            <a:r>
              <a:rPr lang="ru-RU" dirty="0"/>
              <a:t>остальные интервалы содержат меньшее количество книг</a:t>
            </a:r>
            <a:r>
              <a:rPr lang="ru-RU" dirty="0" smtClean="0"/>
              <a:t>, следовательно они менее </a:t>
            </a:r>
            <a:r>
              <a:rPr lang="ru-RU" dirty="0"/>
              <a:t>распространенные.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0975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b="1" dirty="0"/>
              <a:t>2:</a:t>
            </a:r>
            <a:r>
              <a:rPr lang="ru-RU" sz="2000" dirty="0"/>
              <a:t> С помощью диаграммы столбцов сравните количество книг по жанрам.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6" y="1484784"/>
            <a:ext cx="3953323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800" y="1484784"/>
            <a:ext cx="5229200" cy="372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41557" y="5289735"/>
            <a:ext cx="4775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Т.к. исходный </a:t>
            </a:r>
            <a:r>
              <a:rPr lang="ru-RU" sz="1200" dirty="0" err="1"/>
              <a:t>датасет</a:t>
            </a:r>
            <a:r>
              <a:rPr lang="ru-RU" sz="1200" dirty="0"/>
              <a:t> не имел признака '</a:t>
            </a:r>
            <a:r>
              <a:rPr lang="ru-RU" sz="1200" dirty="0" err="1"/>
              <a:t>genres</a:t>
            </a:r>
            <a:r>
              <a:rPr lang="ru-RU" sz="1200" dirty="0" smtClean="0"/>
              <a:t>',то последний был </a:t>
            </a:r>
            <a:r>
              <a:rPr lang="ru-RU" sz="1200" dirty="0"/>
              <a:t>сгенерирован </a:t>
            </a:r>
            <a:r>
              <a:rPr lang="ru-RU" sz="1200" dirty="0" err="1"/>
              <a:t>рандомно</a:t>
            </a:r>
            <a:r>
              <a:rPr lang="ru-RU" sz="1200" dirty="0"/>
              <a:t> через библиотеку </a:t>
            </a:r>
            <a:r>
              <a:rPr lang="ru-RU" sz="1200" dirty="0" err="1"/>
              <a:t>random,следовательно</a:t>
            </a:r>
            <a:r>
              <a:rPr lang="ru-RU" sz="1200" dirty="0"/>
              <a:t> количество жанров по книгам сравнительно </a:t>
            </a:r>
            <a:r>
              <a:rPr lang="ru-RU" sz="1200" dirty="0" err="1"/>
              <a:t>одинаково,но</a:t>
            </a:r>
            <a:r>
              <a:rPr lang="ru-RU" sz="1200" dirty="0"/>
              <a:t> при этом </a:t>
            </a:r>
            <a:r>
              <a:rPr lang="ru-RU" sz="1200" dirty="0" smtClean="0"/>
              <a:t>имеет </a:t>
            </a:r>
            <a:r>
              <a:rPr lang="ru-RU" sz="1200" dirty="0"/>
              <a:t>небольшую тенденцию в сторону уменьшения кол-ва от жанра </a:t>
            </a:r>
            <a:r>
              <a:rPr lang="ru-RU" sz="1200" dirty="0" err="1"/>
              <a:t>Thriller</a:t>
            </a:r>
            <a:r>
              <a:rPr lang="ru-RU" sz="1200" dirty="0"/>
              <a:t> до </a:t>
            </a:r>
            <a:r>
              <a:rPr lang="ru-RU" sz="1200" dirty="0" err="1"/>
              <a:t>Mystery</a:t>
            </a:r>
            <a:r>
              <a:rPr lang="ru-RU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496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60672" cy="1039427"/>
          </a:xfrm>
        </p:spPr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/>
              <a:t>3:</a:t>
            </a:r>
            <a:r>
              <a:rPr lang="ru-RU" sz="2000" dirty="0"/>
              <a:t> Создайте </a:t>
            </a:r>
            <a:r>
              <a:rPr lang="ru-RU" sz="2000" dirty="0" err="1"/>
              <a:t>scatter</a:t>
            </a:r>
            <a:r>
              <a:rPr lang="ru-RU" sz="2000" dirty="0"/>
              <a:t> </a:t>
            </a:r>
            <a:r>
              <a:rPr lang="ru-RU" sz="2000" dirty="0" err="1"/>
              <a:t>plot</a:t>
            </a:r>
            <a:r>
              <a:rPr lang="ru-RU" sz="2000" dirty="0"/>
              <a:t> зависимости рейтинга книги от количества оценок.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84784"/>
            <a:ext cx="5259028" cy="514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91472" y="2060848"/>
            <a:ext cx="38519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графике видно, что существует зависимость между рейтингом книги и количеством оценок. Большинство книг имеют рейтинг от 3.5 до 4.5, и количество оценок для этих книг значительно выше, чем для книг с более низким или более высоким рейтингом.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1472" y="3956588"/>
            <a:ext cx="37387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графике есть несколько точек, которые значительно выделяются на фоне остальных. Вероятно, это книги, которые стали очень популярными, например, бестселлеры, и получили огромное количество оценок.</a:t>
            </a:r>
          </a:p>
        </p:txBody>
      </p:sp>
    </p:spTree>
    <p:extLst>
      <p:ext uri="{BB962C8B-B14F-4D97-AF65-F5344CB8AC3E}">
        <p14:creationId xmlns:p14="http://schemas.microsoft.com/office/powerpoint/2010/main" val="369472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60672" cy="1039427"/>
          </a:xfrm>
        </p:spPr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4. Постройте </a:t>
            </a:r>
            <a:r>
              <a:rPr lang="ru-RU" sz="2000" dirty="0" err="1"/>
              <a:t>line</a:t>
            </a:r>
            <a:r>
              <a:rPr lang="ru-RU" sz="2000" dirty="0"/>
              <a:t> </a:t>
            </a:r>
            <a:r>
              <a:rPr lang="ru-RU" sz="2000" dirty="0" err="1"/>
              <a:t>chart</a:t>
            </a:r>
            <a:r>
              <a:rPr lang="ru-RU" sz="2000" dirty="0"/>
              <a:t> зависимости среднего рейтинга книг от времени.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340768"/>
            <a:ext cx="4824536" cy="473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6111770"/>
            <a:ext cx="5842645" cy="746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340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smtClean="0"/>
              <a:t>5. С </a:t>
            </a:r>
            <a:r>
              <a:rPr lang="ru-RU" sz="2000" dirty="0"/>
              <a:t>помощью </a:t>
            </a:r>
            <a:r>
              <a:rPr lang="ru-RU" sz="2000" dirty="0" err="1"/>
              <a:t>box</a:t>
            </a:r>
            <a:r>
              <a:rPr lang="ru-RU" sz="2000" dirty="0"/>
              <a:t> </a:t>
            </a:r>
            <a:r>
              <a:rPr lang="ru-RU" sz="2000" dirty="0" err="1"/>
              <a:t>plot</a:t>
            </a:r>
            <a:r>
              <a:rPr lang="ru-RU" sz="2000" dirty="0"/>
              <a:t> сравните распределение рейтинга книг, написанных разными авторами.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256" y="3523326"/>
            <a:ext cx="5477396" cy="336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6285006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400" y="3645024"/>
            <a:ext cx="3888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Средний рейтинг книг у всех авторов находится в диапазоне от 3,9 до 4.5</a:t>
            </a:r>
            <a:r>
              <a:rPr lang="ru-RU" sz="1200" dirty="0" smtClean="0"/>
              <a:t>.</a:t>
            </a:r>
          </a:p>
          <a:p>
            <a:endParaRPr lang="ru-RU" sz="1200" dirty="0"/>
          </a:p>
          <a:p>
            <a:r>
              <a:rPr lang="ru-RU" sz="1200" dirty="0" smtClean="0"/>
              <a:t> </a:t>
            </a:r>
            <a:r>
              <a:rPr lang="ru-RU" sz="1200" dirty="0"/>
              <a:t>Из данной диаграммы </a:t>
            </a:r>
            <a:r>
              <a:rPr lang="ru-RU" sz="1200" dirty="0" err="1"/>
              <a:t>boxplot</a:t>
            </a:r>
            <a:r>
              <a:rPr lang="ru-RU" sz="1200" dirty="0"/>
              <a:t> можно </a:t>
            </a:r>
            <a:r>
              <a:rPr lang="ru-RU" sz="1200" dirty="0" err="1"/>
              <a:t>сказать,что</a:t>
            </a:r>
            <a:r>
              <a:rPr lang="ru-RU" sz="1200" dirty="0"/>
              <a:t> самым популярным автором из совершенной выборки является </a:t>
            </a:r>
            <a:r>
              <a:rPr lang="ru-RU" sz="1200" dirty="0" err="1"/>
              <a:t>J.K.Rowling</a:t>
            </a:r>
            <a:r>
              <a:rPr lang="ru-RU" sz="1200" dirty="0"/>
              <a:t>, а менее популярный автор это </a:t>
            </a:r>
            <a:r>
              <a:rPr lang="ru-RU" sz="1200" dirty="0" err="1"/>
              <a:t>Bill</a:t>
            </a:r>
            <a:r>
              <a:rPr lang="ru-RU" sz="1200" dirty="0"/>
              <a:t> </a:t>
            </a:r>
            <a:r>
              <a:rPr lang="ru-RU" sz="1200" dirty="0" err="1"/>
              <a:t>Bryson</a:t>
            </a:r>
            <a:r>
              <a:rPr lang="ru-RU" sz="1200" dirty="0"/>
              <a:t>. </a:t>
            </a:r>
            <a:endParaRPr lang="ru-RU" sz="1200" dirty="0" smtClean="0"/>
          </a:p>
          <a:p>
            <a:endParaRPr lang="ru-RU" sz="1200" dirty="0"/>
          </a:p>
          <a:p>
            <a:r>
              <a:rPr lang="ru-RU" sz="1200" dirty="0" smtClean="0"/>
              <a:t>У </a:t>
            </a:r>
            <a:r>
              <a:rPr lang="ru-RU" sz="1200" dirty="0" err="1"/>
              <a:t>Bill</a:t>
            </a:r>
            <a:r>
              <a:rPr lang="ru-RU" sz="1200" dirty="0"/>
              <a:t> </a:t>
            </a:r>
            <a:r>
              <a:rPr lang="ru-RU" sz="1200" dirty="0" err="1"/>
              <a:t>Bryson</a:t>
            </a:r>
            <a:r>
              <a:rPr lang="ru-RU" sz="1200" dirty="0"/>
              <a:t> и </a:t>
            </a:r>
            <a:r>
              <a:rPr lang="ru-RU" sz="1200" dirty="0" err="1"/>
              <a:t>Stephen</a:t>
            </a:r>
            <a:r>
              <a:rPr lang="ru-RU" sz="1200" dirty="0"/>
              <a:t> </a:t>
            </a:r>
            <a:r>
              <a:rPr lang="ru-RU" sz="1200" dirty="0" err="1"/>
              <a:t>King</a:t>
            </a:r>
            <a:r>
              <a:rPr lang="ru-RU" sz="1200" dirty="0"/>
              <a:t> есть выбросы (точки за пределами усов </a:t>
            </a:r>
            <a:r>
              <a:rPr lang="ru-RU" sz="1200" dirty="0" err="1"/>
              <a:t>boxplot</a:t>
            </a:r>
            <a:r>
              <a:rPr lang="ru-RU" sz="1200" dirty="0"/>
              <a:t>), которые свидетельствуют о том, что есть книги этих авторов, которые имеют значительно более низкие или более высокие рейтинги, чем остальные.</a:t>
            </a:r>
          </a:p>
        </p:txBody>
      </p:sp>
    </p:spTree>
    <p:extLst>
      <p:ext uri="{BB962C8B-B14F-4D97-AF65-F5344CB8AC3E}">
        <p14:creationId xmlns:p14="http://schemas.microsoft.com/office/powerpoint/2010/main" val="53077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6. Создайте тепловую карту (</a:t>
            </a:r>
            <a:r>
              <a:rPr lang="ru-RU" sz="2000" dirty="0" err="1"/>
              <a:t>heatmap</a:t>
            </a:r>
            <a:r>
              <a:rPr lang="ru-RU" sz="2000" dirty="0"/>
              <a:t>) зависимости рейтинга книги от жанра и количества страниц.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9126348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66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8873908" cy="4426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469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Анализ тепловой карты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373563"/>
          </a:xfrm>
        </p:spPr>
        <p:txBody>
          <a:bodyPr>
            <a:normAutofit/>
          </a:bodyPr>
          <a:lstStyle/>
          <a:p>
            <a:r>
              <a:rPr lang="ru-RU" sz="1800" dirty="0"/>
              <a:t>Тепловая карта показывает, что рейтинг книг зависят от сочетания жанра и количества страниц. </a:t>
            </a:r>
            <a:endParaRPr lang="ru-RU" sz="1800" dirty="0" smtClean="0"/>
          </a:p>
          <a:p>
            <a:r>
              <a:rPr lang="ru-RU" sz="1800" dirty="0" smtClean="0"/>
              <a:t>Некоторые </a:t>
            </a:r>
            <a:r>
              <a:rPr lang="ru-RU" sz="1800" dirty="0"/>
              <a:t>жанры, например, “</a:t>
            </a:r>
            <a:r>
              <a:rPr lang="ru-RU" sz="1800" dirty="0" err="1"/>
              <a:t>Fantasy</a:t>
            </a:r>
            <a:r>
              <a:rPr lang="ru-RU" sz="1800" dirty="0"/>
              <a:t>” и “</a:t>
            </a:r>
            <a:r>
              <a:rPr lang="ru-RU" sz="1800" dirty="0" err="1"/>
              <a:t>Historical</a:t>
            </a:r>
            <a:r>
              <a:rPr lang="ru-RU" sz="1800" dirty="0"/>
              <a:t> </a:t>
            </a:r>
            <a:r>
              <a:rPr lang="ru-RU" sz="1800" dirty="0" err="1"/>
              <a:t>Fiction</a:t>
            </a:r>
            <a:r>
              <a:rPr lang="ru-RU" sz="1800" dirty="0"/>
              <a:t>”, чаще всего получают более высокий рейтинг в диапазоне от 70 до 200 страниц, в то время как другие жанры, например, “</a:t>
            </a:r>
            <a:r>
              <a:rPr lang="ru-RU" sz="1800" dirty="0" err="1"/>
              <a:t>Thriller</a:t>
            </a:r>
            <a:r>
              <a:rPr lang="ru-RU" sz="1800" dirty="0"/>
              <a:t>” и “</a:t>
            </a:r>
            <a:r>
              <a:rPr lang="ru-RU" sz="1800" dirty="0" err="1"/>
              <a:t>Science</a:t>
            </a:r>
            <a:r>
              <a:rPr lang="ru-RU" sz="1800" dirty="0"/>
              <a:t> </a:t>
            </a:r>
            <a:r>
              <a:rPr lang="ru-RU" sz="1800" dirty="0" err="1"/>
              <a:t>Fiction</a:t>
            </a:r>
            <a:r>
              <a:rPr lang="ru-RU" sz="1800" dirty="0"/>
              <a:t>”, получают более высокий рейтинг при большем количестве страниц. Это может свидетельствовать о том, что у читателей существуют предпочтения в зависимости от жанра и длины книги.</a:t>
            </a:r>
          </a:p>
        </p:txBody>
      </p:sp>
    </p:spTree>
    <p:extLst>
      <p:ext uri="{BB962C8B-B14F-4D97-AF65-F5344CB8AC3E}">
        <p14:creationId xmlns:p14="http://schemas.microsoft.com/office/powerpoint/2010/main" val="87606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7. Постройте </a:t>
            </a:r>
            <a:r>
              <a:rPr lang="ru-RU" sz="2000" dirty="0" err="1"/>
              <a:t>bar</a:t>
            </a:r>
            <a:r>
              <a:rPr lang="ru-RU" sz="2000" dirty="0"/>
              <a:t> </a:t>
            </a:r>
            <a:r>
              <a:rPr lang="ru-RU" sz="2000" dirty="0" err="1"/>
              <a:t>chart</a:t>
            </a:r>
            <a:r>
              <a:rPr lang="ru-RU" sz="2000" dirty="0"/>
              <a:t>, сравнивающий количество книг, выпущенных в каждом году.</a:t>
            </a:r>
            <a:br>
              <a:rPr lang="ru-RU" sz="2000" dirty="0"/>
            </a:br>
            <a:endParaRPr lang="ru-RU" sz="20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36" y="1412776"/>
            <a:ext cx="5400600" cy="530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36096" y="1651753"/>
            <a:ext cx="35856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Количество книг, выпущенных в каждом году, постепенно увеличивается с течением времени, особенно начиная с 1980-х годов. После 2010-х годов количество книг, выпущенных в год, пошло на спад.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8864" y="3429001"/>
            <a:ext cx="3765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Максимальное количество книг было выпущено в 2006 году и составило 1697 штук.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436096" y="4581128"/>
            <a:ext cx="3765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Минимальное количество книг было выпущено в 1900 году и составило 1 книгу.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5669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smtClean="0"/>
              <a:t>8. С </a:t>
            </a:r>
            <a:r>
              <a:rPr lang="ru-RU" sz="2000" dirty="0"/>
              <a:t>помощью </a:t>
            </a:r>
            <a:r>
              <a:rPr lang="ru-RU" sz="2000" dirty="0" err="1"/>
              <a:t>scatter</a:t>
            </a:r>
            <a:r>
              <a:rPr lang="ru-RU" sz="2000" dirty="0"/>
              <a:t> </a:t>
            </a:r>
            <a:r>
              <a:rPr lang="ru-RU" sz="2000" dirty="0" err="1"/>
              <a:t>plot</a:t>
            </a:r>
            <a:r>
              <a:rPr lang="ru-RU" sz="2000" dirty="0"/>
              <a:t> визуализируйте зависимость рейтинга книги от количества страниц.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5159665" cy="505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80273" y="2060848"/>
            <a:ext cx="37328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диаграмме не наблюдается четкой зависимости между количеством страниц в книге и ее рейтингом</a:t>
            </a:r>
            <a:r>
              <a:rPr lang="ru-RU" sz="1400" dirty="0" smtClean="0"/>
              <a:t>.</a:t>
            </a:r>
          </a:p>
          <a:p>
            <a:endParaRPr lang="ru-RU" sz="1400" dirty="0"/>
          </a:p>
          <a:p>
            <a:r>
              <a:rPr lang="ru-RU" sz="1400" dirty="0" smtClean="0"/>
              <a:t>Большинство </a:t>
            </a:r>
            <a:r>
              <a:rPr lang="ru-RU" sz="1400" dirty="0"/>
              <a:t>точек сконцентрировано в области с количеством страниц от 0 до 1000 и рейтингом от 3 до 5</a:t>
            </a:r>
            <a:r>
              <a:rPr lang="ru-RU" sz="1400" dirty="0" smtClean="0"/>
              <a:t>.</a:t>
            </a:r>
          </a:p>
          <a:p>
            <a:endParaRPr lang="ru-RU" sz="1400" dirty="0"/>
          </a:p>
          <a:p>
            <a:r>
              <a:rPr lang="ru-RU" sz="1400" dirty="0" smtClean="0"/>
              <a:t>Есть </a:t>
            </a:r>
            <a:r>
              <a:rPr lang="ru-RU" sz="1400" dirty="0"/>
              <a:t>несколько точек, которые находятся далеко от основной массы данных (выбросы). </a:t>
            </a:r>
            <a:endParaRPr lang="ru-RU" sz="1400" dirty="0" smtClean="0"/>
          </a:p>
          <a:p>
            <a:endParaRPr lang="ru-RU" sz="1400" dirty="0"/>
          </a:p>
          <a:p>
            <a:r>
              <a:rPr lang="ru-RU" sz="1400" dirty="0" smtClean="0"/>
              <a:t>Например</a:t>
            </a:r>
            <a:r>
              <a:rPr lang="ru-RU" sz="1400" dirty="0"/>
              <a:t>, есть книга с количеством страниц более 6000 и рейтингом около 4.8, а также несколько книг с небольшим количеством страниц (менее 100) и рейтингом около 2.</a:t>
            </a:r>
          </a:p>
        </p:txBody>
      </p:sp>
    </p:spTree>
    <p:extLst>
      <p:ext uri="{BB962C8B-B14F-4D97-AF65-F5344CB8AC3E}">
        <p14:creationId xmlns:p14="http://schemas.microsoft.com/office/powerpoint/2010/main" val="103370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 smtClean="0"/>
              <a:t>9. Создайте </a:t>
            </a:r>
            <a:r>
              <a:rPr lang="ru-RU" sz="2000" dirty="0"/>
              <a:t>временную шкалу (</a:t>
            </a:r>
            <a:r>
              <a:rPr lang="ru-RU" sz="2000" dirty="0" err="1"/>
              <a:t>timeline</a:t>
            </a:r>
            <a:r>
              <a:rPr lang="ru-RU" sz="2000" dirty="0"/>
              <a:t>), отображающую количество книг, выпущенных в каждом году.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8715929" cy="4752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146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smtClean="0"/>
              <a:t>10. Постройте </a:t>
            </a:r>
            <a:r>
              <a:rPr lang="ru-RU" sz="2400" dirty="0"/>
              <a:t>гистограмму распределения количества страниц в книгах.</a:t>
            </a:r>
            <a:br>
              <a:rPr lang="ru-RU" sz="2400" dirty="0"/>
            </a:br>
            <a:endParaRPr lang="ru-RU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3"/>
            <a:ext cx="4586357" cy="28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269" y="1484783"/>
            <a:ext cx="4517515" cy="3356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44240" y="5013176"/>
            <a:ext cx="633670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Для лучшей визуализации данных был выбран диапазон от 0 до 2000 страниц, так как примерно в нем лежит наибольшее количество книг.</a:t>
            </a:r>
          </a:p>
          <a:p>
            <a:r>
              <a:rPr lang="ru-RU" sz="1400" dirty="0" smtClean="0"/>
              <a:t>По </a:t>
            </a:r>
            <a:r>
              <a:rPr lang="ru-RU" sz="1400" dirty="0"/>
              <a:t>данной диаграмме можно сказать</a:t>
            </a:r>
            <a:r>
              <a:rPr lang="ru-RU" sz="1400" dirty="0" smtClean="0"/>
              <a:t>, что </a:t>
            </a:r>
            <a:r>
              <a:rPr lang="ru-RU" sz="1400" dirty="0"/>
              <a:t>большее количество книг в </a:t>
            </a:r>
            <a:r>
              <a:rPr lang="ru-RU" sz="1400" dirty="0" err="1"/>
              <a:t>датасете</a:t>
            </a:r>
            <a:r>
              <a:rPr lang="ru-RU" sz="1400" dirty="0"/>
              <a:t> имеет количество страниц до 1000 страниц, а самым распространенным является интервал от 250 до 375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43836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Развитие проекта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Для многостороннего анализа данных можно добавить </a:t>
            </a:r>
            <a:r>
              <a:rPr lang="ru-RU" dirty="0"/>
              <a:t>дополнительные данные о книгах, например, рейтинг на других платформах, количество </a:t>
            </a:r>
            <a:r>
              <a:rPr lang="ru-RU" dirty="0" smtClean="0"/>
              <a:t>продаж, </a:t>
            </a:r>
            <a:r>
              <a:rPr lang="ru-RU" dirty="0"/>
              <a:t>информацию о </a:t>
            </a:r>
            <a:r>
              <a:rPr lang="ru-RU" dirty="0" smtClean="0"/>
              <a:t>переводах. Это улучшит представление о том, насколько сильно влияет потребительский фактор на количество продаж книг, а также способствует продвижению товара на рынке.</a:t>
            </a:r>
          </a:p>
          <a:p>
            <a:r>
              <a:rPr lang="ru-RU" dirty="0" smtClean="0"/>
              <a:t>Добавление такой колонки как тираж позволит издателю понимать нужное количество книг для печати, чтобы избежать издержек в производстве и повысить прибыль.</a:t>
            </a:r>
          </a:p>
          <a:p>
            <a:r>
              <a:rPr lang="ru-RU" dirty="0" smtClean="0"/>
              <a:t>Также следовало бы дополнить проект дополнительным анализом отзывов, который бы помог выявить ключевые аспекты в книгах, которые бы понравились читателю, таким образом разбив потребителей на определенные группы по вкусам, что способствовало бы повышению продаж.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59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Контакты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772816"/>
            <a:ext cx="9577064" cy="4373563"/>
          </a:xfrm>
        </p:spPr>
        <p:txBody>
          <a:bodyPr/>
          <a:lstStyle/>
          <a:p>
            <a:r>
              <a:rPr lang="ru-RU" dirty="0" smtClean="0"/>
              <a:t>Проект подготовила </a:t>
            </a:r>
            <a:r>
              <a:rPr lang="ru-RU" dirty="0" err="1" smtClean="0"/>
              <a:t>Свертокина</a:t>
            </a:r>
            <a:r>
              <a:rPr lang="ru-RU" dirty="0" smtClean="0"/>
              <a:t> Анастасия Андреевна</a:t>
            </a:r>
          </a:p>
          <a:p>
            <a:r>
              <a:rPr lang="ru-RU" dirty="0" smtClean="0"/>
              <a:t>Почта: </a:t>
            </a:r>
            <a:r>
              <a:rPr lang="en-US" dirty="0" smtClean="0"/>
              <a:t>nastya.svertokina.03@bk.ru</a:t>
            </a:r>
            <a:endParaRPr lang="ru-RU" dirty="0" smtClean="0"/>
          </a:p>
          <a:p>
            <a:r>
              <a:rPr lang="ru-RU" dirty="0" smtClean="0"/>
              <a:t>Телефон: 8-900-947-24-41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52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3959</TotalTime>
  <Words>1729</Words>
  <Application>Microsoft Office PowerPoint</Application>
  <PresentationFormat>Экран (4:3)</PresentationFormat>
  <Paragraphs>258</Paragraphs>
  <Slides>50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1" baseType="lpstr">
      <vt:lpstr>Аптека</vt:lpstr>
      <vt:lpstr>Тема проекта:  Исследование факторов, влияющих  на популярность книг </vt:lpstr>
      <vt:lpstr>Краткое содержание dataset BOOKS. описание данных </vt:lpstr>
      <vt:lpstr>Внешний вид бд books:</vt:lpstr>
      <vt:lpstr>SQL запросы: 1. Выведите список всех жанров книг в базе данных: </vt:lpstr>
      <vt:lpstr>2. Выведите количество книг,  выпущенных в каждом году, отсортированное по убыванию. </vt:lpstr>
      <vt:lpstr>3. Выведите топ 10 самых популярных книг по среднему рейтингу.</vt:lpstr>
      <vt:lpstr>4. Выведите информацию о книгах, имеющих определенный жанр и рейтинг выше заданного значения (пользователь вводит жанр и рейтинг).</vt:lpstr>
      <vt:lpstr> 5. Выведите средний рейтинг книг по жанрам. </vt:lpstr>
      <vt:lpstr> 6. Выведите список книг, написанных определенным автором (пользователь вводит имя автора).</vt:lpstr>
      <vt:lpstr> 7. Выведите информацию о книгах с определенным количеством страниц (например, более 500 страниц). </vt:lpstr>
      <vt:lpstr>8. Выведите количество книг с определенным рейтингом.</vt:lpstr>
      <vt:lpstr> 9. Выведите список книг с наибольшим количеством оценок.</vt:lpstr>
      <vt:lpstr>10. Выведите средний рейтинг книг, выпущенных в определенном году (пользователь вводит год).</vt:lpstr>
      <vt:lpstr> Триггеры. 1. При добавлении новой книги в базу данных, автоматически записывать в лог информацию о дате и времени добавления.  </vt:lpstr>
      <vt:lpstr>Создание триггера: При добавлении новой книги в базу данных, автоматически записывать в лог информацию о дате и времени добавления. </vt:lpstr>
      <vt:lpstr>Результат работы триггера</vt:lpstr>
      <vt:lpstr>2. При изменении рейтинга книги, автоматически обновлять ее описание в базе данных.</vt:lpstr>
      <vt:lpstr>Презентация PowerPoint</vt:lpstr>
      <vt:lpstr> 3. При удалении книги из базы данных, записывать в лог информацию о дате и времени удаления. </vt:lpstr>
      <vt:lpstr>Презентация PowerPoint</vt:lpstr>
      <vt:lpstr>4. При добавлении нового жанра, автоматически создавать таблицу для хранения информации о книгах этого жанра.</vt:lpstr>
      <vt:lpstr>Продолжение кода триггера</vt:lpstr>
      <vt:lpstr>Презентация PowerPoint</vt:lpstr>
      <vt:lpstr>Презентация PowerPoint</vt:lpstr>
      <vt:lpstr>5. При изменении информации об авторе, автоматически обновлять информацию о книгах, написанных этим автором.</vt:lpstr>
      <vt:lpstr>Презентация PowerPoint</vt:lpstr>
      <vt:lpstr> Хранимые процедуры: 1. Возвращать список книг, соответствующих заданным критериям поиска (жанр, автор, год выпуска, рейтинг, количество страниц). </vt:lpstr>
      <vt:lpstr>Презентация PowerPoint</vt:lpstr>
      <vt:lpstr>Результаты работы процедуры</vt:lpstr>
      <vt:lpstr> 2. Вычислять средний рейтинг книг определенного жанра. </vt:lpstr>
      <vt:lpstr>3. Определять топ 5 самых популярных книг по среднему рейтингу. </vt:lpstr>
      <vt:lpstr> 4. Выводить статистику по книгам (количество книг по жанрам,  авторам, годам выпуска) в виде таблицы. </vt:lpstr>
      <vt:lpstr>Презентация PowerPoint</vt:lpstr>
      <vt:lpstr>Презентация PowerPoint</vt:lpstr>
      <vt:lpstr> 5. Вычислять среднее количество оценок книг, выпущенных в определенном году. </vt:lpstr>
      <vt:lpstr>Визуализация данных в Jupyter Notebook:  1. Постройте гистограмму распределения рейтинга книг.</vt:lpstr>
      <vt:lpstr>АНАЛИЗ ГИСТОГРАММЫ</vt:lpstr>
      <vt:lpstr>2: С помощью диаграммы столбцов сравните количество книг по жанрам.</vt:lpstr>
      <vt:lpstr> 3: Создайте scatter plot зависимости рейтинга книги от количества оценок.</vt:lpstr>
      <vt:lpstr> 4. Постройте line chart зависимости среднего рейтинга книг от времени.</vt:lpstr>
      <vt:lpstr>5. С помощью box plot сравните распределение рейтинга книг, написанных разными авторами.</vt:lpstr>
      <vt:lpstr>6. Создайте тепловую карту (heatmap) зависимости рейтинга книги от жанра и количества страниц.</vt:lpstr>
      <vt:lpstr>Презентация PowerPoint</vt:lpstr>
      <vt:lpstr>Анализ тепловой карты</vt:lpstr>
      <vt:lpstr> 7. Постройте bar chart, сравнивающий количество книг, выпущенных в каждом году. </vt:lpstr>
      <vt:lpstr>8. С помощью scatter plot визуализируйте зависимость рейтинга книги от количества страниц.</vt:lpstr>
      <vt:lpstr>9. Создайте временную шкалу (timeline), отображающую количество книг, выпущенных в каждом году.</vt:lpstr>
      <vt:lpstr> 10. Постройте гистограмму распределения количества страниц в книгах. </vt:lpstr>
      <vt:lpstr> Развитие проекта </vt:lpstr>
      <vt:lpstr>Контакты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проекта:  Исследование факторов, влияющих на популярность книг</dc:title>
  <dc:creator>настя</dc:creator>
  <cp:lastModifiedBy>настя</cp:lastModifiedBy>
  <cp:revision>105</cp:revision>
  <dcterms:created xsi:type="dcterms:W3CDTF">2024-07-12T06:39:01Z</dcterms:created>
  <dcterms:modified xsi:type="dcterms:W3CDTF">2024-07-23T07:05:25Z</dcterms:modified>
</cp:coreProperties>
</file>